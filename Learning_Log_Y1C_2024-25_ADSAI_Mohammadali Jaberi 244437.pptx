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50"/>
  </p:notesMasterIdLst>
  <p:sldIdLst>
    <p:sldId id="256" r:id="rId5"/>
    <p:sldId id="257" r:id="rId6"/>
    <p:sldId id="258" r:id="rId7"/>
    <p:sldId id="263" r:id="rId8"/>
    <p:sldId id="260" r:id="rId9"/>
    <p:sldId id="262" r:id="rId10"/>
    <p:sldId id="365" r:id="rId11"/>
    <p:sldId id="366" r:id="rId12"/>
    <p:sldId id="305" r:id="rId13"/>
    <p:sldId id="264" r:id="rId14"/>
    <p:sldId id="265" r:id="rId15"/>
    <p:sldId id="268" r:id="rId16"/>
    <p:sldId id="269" r:id="rId17"/>
    <p:sldId id="270" r:id="rId18"/>
    <p:sldId id="271" r:id="rId19"/>
    <p:sldId id="324" r:id="rId20"/>
    <p:sldId id="325" r:id="rId21"/>
    <p:sldId id="308" r:id="rId22"/>
    <p:sldId id="326" r:id="rId23"/>
    <p:sldId id="327" r:id="rId24"/>
    <p:sldId id="311" r:id="rId25"/>
    <p:sldId id="328" r:id="rId26"/>
    <p:sldId id="329" r:id="rId27"/>
    <p:sldId id="331" r:id="rId28"/>
    <p:sldId id="332" r:id="rId29"/>
    <p:sldId id="282" r:id="rId30"/>
    <p:sldId id="345" r:id="rId31"/>
    <p:sldId id="352" r:id="rId32"/>
    <p:sldId id="346" r:id="rId33"/>
    <p:sldId id="358" r:id="rId34"/>
    <p:sldId id="347" r:id="rId35"/>
    <p:sldId id="359" r:id="rId36"/>
    <p:sldId id="348" r:id="rId37"/>
    <p:sldId id="360" r:id="rId38"/>
    <p:sldId id="349" r:id="rId39"/>
    <p:sldId id="361" r:id="rId40"/>
    <p:sldId id="350" r:id="rId41"/>
    <p:sldId id="362" r:id="rId42"/>
    <p:sldId id="364" r:id="rId43"/>
    <p:sldId id="363" r:id="rId44"/>
    <p:sldId id="333" r:id="rId45"/>
    <p:sldId id="334" r:id="rId46"/>
    <p:sldId id="296" r:id="rId47"/>
    <p:sldId id="297" r:id="rId48"/>
    <p:sldId id="298" r:id="rId49"/>
  </p:sldIdLst>
  <p:sldSz cx="9144000" cy="5143500" type="screen16x9"/>
  <p:notesSz cx="6858000" cy="9144000"/>
  <p:embeddedFontLst>
    <p:embeddedFont>
      <p:font typeface="Helvetica Neue" panose="020B0604020202020204" charset="0"/>
      <p:regular r:id="rId51"/>
      <p:bold r:id="rId52"/>
      <p:italic r:id="rId53"/>
      <p:boldItalic r:id="rId54"/>
    </p:embeddedFont>
    <p:embeddedFont>
      <p:font typeface="Open Sans" panose="020B0606030504020204" pitchFamily="34" charset="0"/>
      <p:regular r:id="rId55"/>
      <p:bold r:id="rId56"/>
      <p:italic r:id="rId57"/>
      <p:boldItalic r:id="rId58"/>
    </p:embeddedFont>
    <p:embeddedFont>
      <p:font typeface="Proxima Nova" panose="020B0604020202020204" charset="0"/>
      <p:regular r:id="rId59"/>
      <p:bold r:id="rId60"/>
      <p:italic r:id="rId61"/>
      <p:boldItalic r:id="rId62"/>
    </p:embeddedFont>
    <p:embeddedFont>
      <p:font typeface="Roboto" panose="02000000000000000000" pitchFamily="2" charset="0"/>
      <p:regular r:id="rId63"/>
      <p:bold r:id="rId64"/>
      <p:italic r:id="rId65"/>
      <p:boldItalic r:id="rId66"/>
    </p:embeddedFont>
    <p:embeddedFont>
      <p:font typeface="Roboto Light" panose="02000000000000000000" pitchFamily="2" charset="0"/>
      <p:regular r:id="rId67"/>
      <p:italic r:id="rId68"/>
    </p:embeddedFont>
    <p:embeddedFont>
      <p:font typeface="Roboto Thin" panose="02000000000000000000" pitchFamily="2" charset="0"/>
      <p:regular r:id="rId69"/>
      <p: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1CC"/>
    <a:srgbClr val="F7C7AC"/>
    <a:srgbClr val="00FFCC"/>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CE8E27-CA2D-3948-F99B-231CDAE894EA}" v="11" dt="2024-08-28T14:28:15.222"/>
  </p1510:revLst>
</p1510:revInfo>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95" autoAdjust="0"/>
  </p:normalViewPr>
  <p:slideViewPr>
    <p:cSldViewPr snapToGrid="0">
      <p:cViewPr>
        <p:scale>
          <a:sx n="75" d="100"/>
          <a:sy n="75" d="100"/>
        </p:scale>
        <p:origin x="134" y="466"/>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3.fntdata"/><Relationship Id="rId68" Type="http://schemas.openxmlformats.org/officeDocument/2006/relationships/font" Target="fonts/font18.fntdata"/><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11.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font" Target="fonts/font1.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7.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a:p>
          <a:p>
            <a:pPr marL="0" lvl="0" indent="0" algn="l" rtl="0">
              <a:spcBef>
                <a:spcPts val="0"/>
              </a:spcBef>
              <a:spcAft>
                <a:spcPts val="0"/>
              </a:spcAft>
              <a:buNone/>
            </a:pPr>
            <a:endParaRPr/>
          </a:p>
          <a:p>
            <a:pPr marL="0" lvl="0" indent="0" algn="l" rtl="0">
              <a:spcBef>
                <a:spcPts val="0"/>
              </a:spcBef>
              <a:spcAft>
                <a:spcPts val="0"/>
              </a:spcAft>
              <a:buNone/>
            </a:pPr>
            <a:r>
              <a:rPr lang="en"/>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081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315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38435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428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163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B8F160EC-5BBE-A783-36CF-204F52887513}"/>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81D4952B-AD4F-0F42-D324-5D81ED9157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CB8CF310-8582-0A1B-7BCD-5B938739D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17015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423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AE447756-D18E-579D-2E8D-CA9E36B09C5E}"/>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E520C49D-E449-AFF1-1A01-FB125F2F0A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727C839A-CFE7-F3EA-09A9-0B31D5BDF9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8886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626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F51BFFAF-FD50-7E37-69D9-98E8B38B0453}"/>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2EEC0BCF-8B71-BDDD-BCFD-B29358D53A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A2A58287-4887-169C-F31A-8077578E47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64109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7633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9384BEED-04DD-2749-EF42-68B0CB796DDC}"/>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159DFD56-F277-A150-498E-3CF673D9A9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36A58440-77C0-DA60-0B51-463B14EDDD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9098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9891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88FD4632-9D2E-2923-02B1-97E51C64B303}"/>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8E6E6763-5886-5CA2-DCF5-D3E99FF0EC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609038FD-4275-9092-D4C6-973B0C210E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95624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8732CB22-5B74-2462-CA75-52D89177224D}"/>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3D34096A-B75A-C995-33F4-48AC3F84A8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AFE6391E-642D-0390-F985-30B6AECFDC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9716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7B8C4D33-6990-CEB7-7935-5B6175B70911}"/>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231DBF74-B1A8-0275-5B22-A8DCFCFD77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5A0C84FF-EF62-D438-4535-8963F8C7DD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72516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dsai.buas.nl/Year1/BlockC/"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dsai.buas.nl/Year1/BlockC/DataLabTasks.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Week%201/W1-DL2-Generating-Image-Dataset%20(Mohammadali)%20Finalll%20week%201%20Friday.ipynb"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Week%202/certificate.pdf"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www.figma.com/design/HYwpD4UfE71QAn0oGkfRd1/Block-C?node-id=0-1&amp;t=NejaluwsDwAIRlaj-1" TargetMode="Externa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Deep-Learning-Template%20Mohammadali%20Finall%20(Ready%20to%20submit).ipynb" TargetMode="External"/><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Deep-Learning-Template%20Mohammadali%20Finall%20(Ready%20to%20submit).ipynb"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hyperlink" Target="https://forms.office.com/Pages/DesignPageV2.aspx?prevorigin=Marketing&amp;origin=NeoPortalPage&amp;subpage=design&amp;id=m1gzCjYA6E-oKT7Qkmr4hiebrLTdZ9lMnHcrnfQI7ipUOUtPVFgxM0JBUklUS0VVUjNHTlFRSjc5OC4u&amp;analysis=true"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Responsible-AI-Template.ipynb" TargetMode="External"/><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hyperlink" Target="https://github.com/BredaUniversityADSAI/2024-25c-fai1-adsai-MohammadaliJaberi244437/blob/main/Human-Centered-AI-Template.docx"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Block%20C%20final%20templates/Human-Centered-AI-Template.docx"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hyperlink" Target="https://forms.office.com/Pages/DesignPageV2.aspx?prevorigin=Marketing&amp;origin=NeoPortalPage&amp;subpage=design&amp;id=m1gzCjYA6E-oKT7Qkmr4hiebrLTdZ9lMnHcrnfQI7ipUMDRGSkdRM1lOR1hXRkQ1MTJNM08xSkk1Wi4u" TargetMode="External"/><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hyperlink" Target="https://github.com/BredaUniversityADSAI/2024-25c-fai1-adsai-MohammadaliJaberi244437/blob/main/Block%20C%20final%20templates/W8-T-Test-Mohammadali%20Jaberi.ipynb"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hyperlink" Target="https://github.com/BredaUniversityADSAI/2024-25c-fai1-adsai-MohammadaliJaberi244437/blob/main/Self-Assessment_Rubric-Y1C_2024-25_ADSAI%20(1).xlsx" TargetMode="External"/><Relationship Id="rId4" Type="http://schemas.openxmlformats.org/officeDocument/2006/relationships/hyperlink" Target="https://github.com/BredaUniversityADSAI/2024-25c-fai1-adsai-MohammadaliJaberi244437/blob/main/Worklog_Y1C_2024-25_ADSAI_%20Mohamadali%20Jaberi%20244437.xlsx"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hyperlink" Target="https://github.com/BredaUniversityADSAI/2024-25c-fai1-adsai-MohammadaliJaberi244437/blob/main/Presentation.pptx"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MohammadaliJaberi244437/blob/main/CertificateOfCompletion_Managing%20Your%20Anxiety%20While%20Presenting%20(2).pdf" TargetMode="External"/><Relationship Id="rId5" Type="http://schemas.openxmlformats.org/officeDocument/2006/relationships/hyperlink" Target="https://github.com/BredaUniversityADSAI/2024-25c-fai1-adsai-MohammadaliJaberi244437/blob/main/Self-Assessment_Rubric-Y1C_2024-25_ADSAI%20(1).xlsx" TargetMode="External"/><Relationship Id="rId4" Type="http://schemas.openxmlformats.org/officeDocument/2006/relationships/hyperlink" Target="https://github.com/BredaUniversityADSAI/2024-25c-fai1-adsai-MohammadaliJaberi244437/blob/main/Worklog_Y1C_2024-25_ADSAI_%20Mohamadali%20Jaberi%20244437.xlsx"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MohammadaliJaberi244437/blob/main/Block%20C%20final%20templates/Responsible-AI-Template.ipynb" TargetMode="External"/><Relationship Id="rId5" Type="http://schemas.openxmlformats.org/officeDocument/2006/relationships/hyperlink" Target="https://github.com/BredaUniversityADSAI/2024-25c-fai1-adsai-MohammadaliJaberi244437/blob/main/Self-Assessment_Rubric-Y1C_2024-25_ADSAI%20(1).xlsx" TargetMode="External"/><Relationship Id="rId4" Type="http://schemas.openxmlformats.org/officeDocument/2006/relationships/hyperlink" Target="https://github.com/BredaUniversityADSAI/2024-25c-fai1-adsai-MohammadaliJaberi244437/blob/main/Worklog_Y1C_2024-25_ADSAI_%20Mohamadali%20Jaberi%20244437.xlsx"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MohammadaliJaberi244437/blob/main/Block%20C%20final%20templates/Business-Understanding-Template%20Mohammadali%20Jaberi%20244437.docx" TargetMode="External"/><Relationship Id="rId5" Type="http://schemas.openxmlformats.org/officeDocument/2006/relationships/hyperlink" Target="https://github.com/BredaUniversityADSAI/2024-25c-fai1-adsai-MohammadaliJaberi244437/blob/main/Self-Assessment_Rubric-Y1C_2024-25_ADSAI%20(1).xlsx" TargetMode="External"/><Relationship Id="rId4" Type="http://schemas.openxmlformats.org/officeDocument/2006/relationships/hyperlink" Target="https://github.com/BredaUniversityADSAI/2024-25c-fai1-adsai-MohammadaliJaberi244437/blob/main/Worklog_Y1C_2024-25_ADSAI_%20Mohamadali%20Jaberi%20244437.xlsx"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hyperlink" Target="https://edubuas-my.sharepoint.com/my?id=%2Fpersonal%2F244437%5Fbuas%5Fnl%2FDocuments%2Fsplit&amp;ga=1" TargetMode="External"/><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MohammadaliJaberi244437/blob/main/Block%20C%20final%20templates/Deep-Learning-Template%20Mohammadali%20Finall%20(Ready%20to%20submit).ipynb" TargetMode="External"/><Relationship Id="rId5" Type="http://schemas.openxmlformats.org/officeDocument/2006/relationships/hyperlink" Target="https://github.com/BredaUniversityADSAI/2024-25c-fai1-adsai-MohammadaliJaberi244437/blob/main/Self-Assessment_Rubric-Y1C_2024-25_ADSAI%20(1).xlsx" TargetMode="External"/><Relationship Id="rId4" Type="http://schemas.openxmlformats.org/officeDocument/2006/relationships/hyperlink" Target="https://github.com/BredaUniversityADSAI/2024-25c-fai1-adsai-MohammadaliJaberi244437/blob/main/Worklog_Y1C_2024-25_ADSAI_%20Mohamadali%20Jaberi%20244437.xlsx"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MohammadaliJaberi244437/blob/main/Block%20C%20final%20templates/Deep-Learning-Template%20Mohammadali%20Finall%20(Ready%20to%20submit).ipynb" TargetMode="External"/><Relationship Id="rId5" Type="http://schemas.openxmlformats.org/officeDocument/2006/relationships/hyperlink" Target="https://github.com/BredaUniversityADSAI/2024-25c-fai1-adsai-MohammadaliJaberi244437/blob/main/Self-Assessment_Rubric-Y1C_2024-25_ADSAI%20(1).xlsx" TargetMode="External"/><Relationship Id="rId4" Type="http://schemas.openxmlformats.org/officeDocument/2006/relationships/hyperlink" Target="https://github.com/BredaUniversityADSAI/2024-25c-fai1-adsai-MohammadaliJaberi244437/blob/main/Worklog_Y1C_2024-25_ADSAI_%20Mohamadali%20Jaberi%20244437.xlsx"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hyperlink" Target="https://github.com/BredaUniversityADSAI/2024-25c-fai1-adsai-MohammadaliJaberi244437/blob/main/Human-Centered-AI-Template.docx" TargetMode="External"/><Relationship Id="rId5" Type="http://schemas.openxmlformats.org/officeDocument/2006/relationships/hyperlink" Target="https://github.com/BredaUniversityADSAI/2024-25c-fai1-adsai-MohammadaliJaberi244437/blob/main/Self-Assessment_Rubric-Y1C_2024-25_ADSAI%20(1).xlsx" TargetMode="External"/><Relationship Id="rId4" Type="http://schemas.openxmlformats.org/officeDocument/2006/relationships/hyperlink" Target="https://github.com/BredaUniversityADSAI/2024-25c-fai1-adsai-MohammadaliJaberi244437/blob/main/Worklog_Y1C_2024-25_ADSAI_%20Mohamadali%20Jaberi%20244437.xlsx"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42.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Presentation.pdf" TargetMode="External"/><Relationship Id="rId2" Type="http://schemas.openxmlformats.org/officeDocument/2006/relationships/notesSlide" Target="../notesSlides/notesSlide40.xml"/><Relationship Id="rId1" Type="http://schemas.openxmlformats.org/officeDocument/2006/relationships/slideLayout" Target="../slideLayouts/slideLayout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github.com/BredaUniversityADSAI/2024-25c-fai1-adsai-MohammadaliJaberi244437/blob/main/Final%20presentation.pdf"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657600" y="548650"/>
            <a:ext cx="4937700" cy="326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FFFFFF"/>
                </a:solidFill>
                <a:latin typeface="Roboto"/>
                <a:ea typeface="Roboto"/>
                <a:cs typeface="Roboto"/>
                <a:sym typeface="Roboto"/>
              </a:rPr>
              <a:t>« Mohammadali Jaberi »</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«244437»</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a:t>
            </a:r>
            <a:r>
              <a:rPr lang="en-NL" dirty="0">
                <a:latin typeface="Roboto"/>
                <a:ea typeface="Roboto"/>
                <a:cs typeface="Roboto"/>
                <a:sym typeface="Roboto"/>
              </a:rPr>
              <a:t>creative</a:t>
            </a:r>
            <a:r>
              <a:rPr lang="en-US" dirty="0">
                <a:latin typeface="Roboto"/>
                <a:ea typeface="Roboto"/>
                <a:cs typeface="Roboto"/>
                <a:sym typeface="Roboto"/>
              </a:rPr>
              <a:t> </a:t>
            </a:r>
            <a:r>
              <a:rPr lang="en-NL" dirty="0">
                <a:latin typeface="Roboto"/>
                <a:ea typeface="Roboto"/>
                <a:cs typeface="Roboto"/>
                <a:sym typeface="Roboto"/>
              </a:rPr>
              <a:t>brief/project</a:t>
            </a:r>
            <a:r>
              <a:rPr lang="en-US" dirty="0">
                <a:latin typeface="Roboto"/>
                <a:ea typeface="Roboto"/>
                <a:cs typeface="Roboto"/>
                <a:sym typeface="Roboto"/>
              </a:rPr>
              <a:t> </a:t>
            </a:r>
            <a:r>
              <a:rPr lang="en-NL" dirty="0">
                <a:latin typeface="Roboto"/>
                <a:ea typeface="Roboto"/>
                <a:cs typeface="Roboto"/>
                <a:sym typeface="Roboto"/>
              </a:rPr>
              <a:t>name</a:t>
            </a:r>
            <a:r>
              <a:rPr lang="en" dirty="0">
                <a:solidFill>
                  <a:srgbClr val="FFFFFF"/>
                </a:solidFill>
                <a:latin typeface="Roboto"/>
                <a:ea typeface="Roboto"/>
                <a:cs typeface="Roboto"/>
                <a:sym typeface="Roboto"/>
              </a:rPr>
              <a:t>»</a:t>
            </a:r>
            <a:endParaRPr dirty="0">
              <a:solidFill>
                <a:srgbClr val="FFFFFF"/>
              </a:solidFill>
              <a:latin typeface="Roboto"/>
              <a:ea typeface="Roboto"/>
              <a:cs typeface="Roboto"/>
              <a:sym typeface="Roboto"/>
            </a:endParaRPr>
          </a:p>
        </p:txBody>
      </p:sp>
      <p:sp>
        <p:nvSpPr>
          <p:cNvPr id="94" name="Google Shape;94;p12" descr="Face" title="Face"/>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dirty="0">
                <a:solidFill>
                  <a:srgbClr val="434343"/>
                </a:solidFill>
              </a:rPr>
              <a:t>Learning Log</a:t>
            </a:r>
            <a:r>
              <a:rPr lang="en" dirty="0">
                <a:solidFill>
                  <a:srgbClr val="434343"/>
                </a:solidFill>
              </a:rPr>
              <a:t> </a:t>
            </a:r>
            <a:endParaRPr sz="1800" dirty="0">
              <a:solidFill>
                <a:srgbClr val="434343"/>
              </a:solidFill>
            </a:endParaRPr>
          </a:p>
          <a:p>
            <a:pPr marL="0" indent="0">
              <a:lnSpc>
                <a:spcPct val="104000"/>
              </a:lnSpc>
              <a:spcBef>
                <a:spcPts val="800"/>
              </a:spcBef>
              <a:spcAft>
                <a:spcPts val="800"/>
              </a:spcAft>
            </a:pPr>
            <a:r>
              <a:rPr lang="en" dirty="0">
                <a:solidFill>
                  <a:srgbClr val="434343"/>
                </a:solidFill>
              </a:rPr>
              <a:t>Year  </a:t>
            </a:r>
            <a:r>
              <a:rPr lang="en-US" dirty="0">
                <a:solidFill>
                  <a:srgbClr val="434343"/>
                </a:solidFill>
              </a:rPr>
              <a:t>1</a:t>
            </a:r>
            <a:endParaRPr lang="en" dirty="0">
              <a:solidFill>
                <a:srgbClr val="434343"/>
              </a:solidFill>
            </a:endParaRPr>
          </a:p>
          <a:p>
            <a:pPr marL="0" indent="0">
              <a:lnSpc>
                <a:spcPct val="104000"/>
              </a:lnSpc>
              <a:spcBef>
                <a:spcPts val="800"/>
              </a:spcBef>
              <a:spcAft>
                <a:spcPts val="800"/>
              </a:spcAft>
            </a:pPr>
            <a:r>
              <a:rPr lang="en" dirty="0">
                <a:solidFill>
                  <a:srgbClr val="434343"/>
                </a:solidFill>
              </a:rPr>
              <a:t>Block  </a:t>
            </a:r>
            <a:r>
              <a:rPr lang="en-US" dirty="0">
                <a:solidFill>
                  <a:srgbClr val="434343"/>
                </a:solidFill>
              </a:rPr>
              <a:t>C</a:t>
            </a:r>
            <a:endParaRPr sz="1800" dirty="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dirty="0">
                <a:solidFill>
                  <a:srgbClr val="999999"/>
                </a:solidFill>
                <a:latin typeface="Helvetica Neue"/>
                <a:ea typeface="Roboto"/>
                <a:cs typeface="Roboto"/>
                <a:sym typeface="Helvetica Neue"/>
                <a:hlinkClick r:id="rId3"/>
              </a:rPr>
              <a:t>FAI1.P3-01 Project 1C ADS&amp;AI 2024-25</a:t>
            </a:r>
            <a:endParaRPr dirty="0">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a:defRPr/>
            </a:pPr>
            <a:r>
              <a:rPr lang="en-US" sz="700" dirty="0" err="1">
                <a:solidFill>
                  <a:srgbClr val="999999"/>
                </a:solidFill>
                <a:latin typeface="Helvetica Neue"/>
                <a:ea typeface="Roboto"/>
                <a:cs typeface="Roboto"/>
                <a:sym typeface="Helvetica Neue"/>
                <a:hlinkClick r:id="rId4"/>
              </a:rPr>
              <a:t>DataLab</a:t>
            </a:r>
            <a:r>
              <a:rPr lang="en-US" sz="700" dirty="0">
                <a:solidFill>
                  <a:srgbClr val="999999"/>
                </a:solidFill>
                <a:latin typeface="Helvetica Neue"/>
                <a:ea typeface="Roboto"/>
                <a:cs typeface="Roboto"/>
                <a:sym typeface="Helvetica Neue"/>
                <a:hlinkClick r:id="rId4"/>
              </a:rPr>
              <a:t> Tasks</a:t>
            </a:r>
            <a:endParaRPr lang="en-US" sz="800" dirty="0">
              <a:latin typeface="Roboto"/>
              <a:ea typeface="Roboto"/>
              <a:cs typeface="Roboto"/>
              <a:sym typeface="Roboto"/>
            </a:endParaRPr>
          </a:p>
        </p:txBody>
      </p:sp>
      <p:sp>
        <p:nvSpPr>
          <p:cNvPr id="6" name="Google Shape;16;p2">
            <a:extLst>
              <a:ext uri="{FF2B5EF4-FFF2-40B4-BE49-F238E27FC236}">
                <a16:creationId xmlns:a16="http://schemas.microsoft.com/office/drawing/2014/main" id="{71C20FEA-7051-AFFA-02AF-093F08979088}"/>
              </a:ext>
            </a:extLst>
          </p:cNvPr>
          <p:cNvSpPr txBox="1"/>
          <p:nvPr/>
        </p:nvSpPr>
        <p:spPr>
          <a:xfrm>
            <a:off x="3036676" y="4798480"/>
            <a:ext cx="5944414" cy="232252"/>
          </a:xfrm>
          <a:prstGeom prst="rect">
            <a:avLst/>
          </a:prstGeom>
          <a:noFill/>
          <a:ln>
            <a:noFill/>
          </a:ln>
        </p:spPr>
        <p:txBody>
          <a:bodyPr spcFirstLastPara="1" wrap="square" lIns="91425" tIns="91425" rIns="91425" bIns="91425" anchor="t" anchorCtr="0">
            <a:noAutofit/>
          </a:bodyPr>
          <a:lstStyle/>
          <a:p>
            <a:pPr>
              <a:defRPr/>
            </a:pPr>
            <a:r>
              <a:rPr lang="en-US" sz="700" dirty="0">
                <a:solidFill>
                  <a:srgbClr val="999999"/>
                </a:solidFill>
                <a:latin typeface="Helvetica Neue"/>
                <a:ea typeface="Roboto"/>
                <a:cs typeface="Roboto"/>
                <a:sym typeface="Helvetica Neue"/>
              </a:rPr>
              <a:t>Add Hyperlink Here</a:t>
            </a:r>
            <a:endParaRPr lang="en-US" sz="800" dirty="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As a student at Breda University of Applied Sciences studying to become a professional, you are required to provide evidence that demonstrates your professional learning and growth during the block. This template is intended to provide you with a well-structured and organised format for doing this effectively. Keep in mind that certain competencies may require you to update your evidence every week, and others may have only be relevant during a particular week or two.</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dirty="0"/>
              <a:t>With the evidence you present here teachers should get a clear and comprehensive overview of your progress, how you’ve engaged with feedback, as well as your general attitude and performance as a student and as an aspiring professional developer.</a:t>
            </a:r>
            <a:endParaRPr dirty="0"/>
          </a:p>
          <a:p>
            <a:pPr marL="0" lvl="0" indent="0" algn="l" rtl="0">
              <a:spcBef>
                <a:spcPts val="800"/>
              </a:spcBef>
              <a:spcAft>
                <a:spcPts val="0"/>
              </a:spcAft>
              <a:buNone/>
            </a:pPr>
            <a:endParaRPr dirty="0"/>
          </a:p>
          <a:p>
            <a:pPr marL="0" lvl="0" indent="0" algn="l" rtl="0">
              <a:spcBef>
                <a:spcPts val="800"/>
              </a:spcBef>
              <a:spcAft>
                <a:spcPts val="0"/>
              </a:spcAft>
              <a:buNone/>
            </a:pPr>
            <a:r>
              <a:rPr lang="en" dirty="0"/>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dirty="0"/>
          </a:p>
          <a:p>
            <a:pPr marL="0" lvl="0" indent="0" algn="l" rtl="0">
              <a:spcBef>
                <a:spcPts val="800"/>
              </a:spcBef>
              <a:spcAft>
                <a:spcPts val="0"/>
              </a:spcAft>
              <a:buNone/>
            </a:pPr>
            <a:endParaRPr dirty="0"/>
          </a:p>
          <a:p>
            <a:pPr marL="0" lvl="0" indent="0" algn="l" rtl="0">
              <a:spcBef>
                <a:spcPts val="800"/>
              </a:spcBef>
              <a:spcAft>
                <a:spcPts val="800"/>
              </a:spcAft>
              <a:buNone/>
            </a:pPr>
            <a:r>
              <a:rPr lang="en" dirty="0"/>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dirty="0"/>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a:t>Section A - My Plan		</a:t>
            </a:r>
            <a:r>
              <a:rPr lang="en" i="1"/>
              <a:t>Must be completed in </a:t>
            </a:r>
            <a:r>
              <a:rPr lang="en" i="1" u="sng"/>
              <a:t>week 1</a:t>
            </a:r>
            <a:endParaRPr i="1" u="sng"/>
          </a:p>
          <a:p>
            <a:pPr marL="0" lvl="0" indent="0" algn="l" rtl="0">
              <a:spcBef>
                <a:spcPts val="800"/>
              </a:spcBef>
              <a:spcAft>
                <a:spcPts val="0"/>
              </a:spcAft>
              <a:buNone/>
            </a:pPr>
            <a:r>
              <a:rPr lang="en"/>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a:p>
          <a:p>
            <a:pPr marL="0" lvl="0" indent="0" algn="l" rtl="0">
              <a:spcBef>
                <a:spcPts val="800"/>
              </a:spcBef>
              <a:spcAft>
                <a:spcPts val="0"/>
              </a:spcAft>
              <a:buNone/>
            </a:pPr>
            <a:r>
              <a:rPr lang="en" sz="1200" b="1" u="sng"/>
              <a:t>Section B - ILO’s		</a:t>
            </a:r>
            <a:r>
              <a:rPr lang="en" i="1"/>
              <a:t>Must be completed in </a:t>
            </a:r>
            <a:r>
              <a:rPr lang="en" i="1" u="sng"/>
              <a:t>week 8</a:t>
            </a:r>
            <a:r>
              <a:rPr lang="en" i="1"/>
              <a:t>, but should be updated </a:t>
            </a:r>
            <a:r>
              <a:rPr lang="en" i="1" u="sng"/>
              <a:t>regularly</a:t>
            </a:r>
            <a:endParaRPr i="1" u="sng"/>
          </a:p>
          <a:p>
            <a:pPr marL="0" lvl="0" indent="0" algn="l" rtl="0">
              <a:spcBef>
                <a:spcPts val="800"/>
              </a:spcBef>
              <a:spcAft>
                <a:spcPts val="0"/>
              </a:spcAft>
              <a:buNone/>
            </a:pPr>
            <a:r>
              <a:rPr lang="en"/>
              <a:t>This is where you link your evidence to each of the Intended Learning Outcomes of this block.</a:t>
            </a:r>
            <a:endParaRPr/>
          </a:p>
          <a:p>
            <a:pPr marL="0" lvl="0" indent="0" algn="l" rtl="0">
              <a:spcBef>
                <a:spcPts val="800"/>
              </a:spcBef>
              <a:spcAft>
                <a:spcPts val="0"/>
              </a:spcAft>
              <a:buNone/>
            </a:pPr>
            <a:r>
              <a:rPr lang="en" sz="1200" b="1" u="sng"/>
              <a:t>Section C - Weekly Log	</a:t>
            </a:r>
            <a:r>
              <a:rPr lang="en" i="1"/>
              <a:t>Must be updated </a:t>
            </a:r>
            <a:r>
              <a:rPr lang="en" i="1" u="sng"/>
              <a:t>every week</a:t>
            </a:r>
            <a:endParaRPr i="1" u="sng"/>
          </a:p>
          <a:p>
            <a:pPr marL="0" lvl="0" indent="0" algn="l" rtl="0">
              <a:spcBef>
                <a:spcPts val="80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80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800"/>
              </a:spcBef>
              <a:spcAft>
                <a:spcPts val="0"/>
              </a:spcAft>
              <a:buNone/>
            </a:pPr>
            <a:r>
              <a:rPr lang="en"/>
              <a:t>(Some reflection is almost always a good idea as it provides the foundation for Section C.)</a:t>
            </a:r>
            <a:endParaRPr/>
          </a:p>
          <a:p>
            <a:pPr marL="0" lvl="0" indent="0" algn="l" rtl="0">
              <a:spcBef>
                <a:spcPts val="800"/>
              </a:spcBef>
              <a:spcAft>
                <a:spcPts val="0"/>
              </a:spcAft>
              <a:buNone/>
            </a:pPr>
            <a:r>
              <a:rPr lang="en" sz="1200" b="1" u="sng"/>
              <a:t>Section D - Reflection	</a:t>
            </a:r>
            <a:r>
              <a:rPr lang="en" i="1"/>
              <a:t>Must be completed in </a:t>
            </a:r>
            <a:r>
              <a:rPr lang="en" i="1" u="sng"/>
              <a:t>week 8</a:t>
            </a:r>
            <a:endParaRPr i="1" u="sng"/>
          </a:p>
          <a:p>
            <a:pPr marL="0" lvl="0" indent="0" algn="l" rtl="0">
              <a:spcBef>
                <a:spcPts val="800"/>
              </a:spcBef>
              <a:spcAft>
                <a:spcPts val="80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
        <p:nvSpPr>
          <p:cNvPr id="2" name="Rectangle: Rounded Corners 1">
            <a:extLst>
              <a:ext uri="{FF2B5EF4-FFF2-40B4-BE49-F238E27FC236}">
                <a16:creationId xmlns:a16="http://schemas.microsoft.com/office/drawing/2014/main" id="{4E84F48E-9152-454D-9754-FA0D0AD81F68}"/>
              </a:ext>
            </a:extLst>
          </p:cNvPr>
          <p:cNvSpPr/>
          <p:nvPr/>
        </p:nvSpPr>
        <p:spPr>
          <a:xfrm>
            <a:off x="2033752" y="404648"/>
            <a:ext cx="6232634" cy="7304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NL" b="1" dirty="0">
                <a:latin typeface="Open Sans" panose="020B0606030504020204" pitchFamily="34" charset="0"/>
                <a:ea typeface="Open Sans" panose="020B0606030504020204" pitchFamily="34" charset="0"/>
                <a:cs typeface="Times New Roman" panose="02020603050405020304" pitchFamily="18" charset="0"/>
              </a:rPr>
              <a:t>In the first week</a:t>
            </a:r>
            <a:r>
              <a:rPr lang="en-NL" dirty="0">
                <a:latin typeface="Open Sans" panose="020B0606030504020204" pitchFamily="34" charset="0"/>
                <a:ea typeface="Open Sans" panose="020B0606030504020204" pitchFamily="34" charset="0"/>
                <a:cs typeface="Times New Roman" panose="02020603050405020304" pitchFamily="18" charset="0"/>
              </a:rPr>
              <a:t>, t</a:t>
            </a:r>
            <a:r>
              <a:rPr lang="en-GB" dirty="0">
                <a:effectLst/>
                <a:latin typeface="Open Sans" panose="020B0606030504020204" pitchFamily="34" charset="0"/>
                <a:ea typeface="Open Sans" panose="020B0606030504020204" pitchFamily="34" charset="0"/>
                <a:cs typeface="Times New Roman" panose="02020603050405020304" pitchFamily="18" charset="0"/>
              </a:rPr>
              <a:t>he student sets S.M.A.R.T.</a:t>
            </a:r>
            <a:r>
              <a:rPr lang="en-NL" dirty="0">
                <a:effectLst/>
                <a:latin typeface="Open Sans" panose="020B0606030504020204" pitchFamily="34" charset="0"/>
                <a:ea typeface="Open Sans" panose="020B0606030504020204" pitchFamily="34" charset="0"/>
                <a:cs typeface="Times New Roman" panose="02020603050405020304" pitchFamily="18" charset="0"/>
              </a:rPr>
              <a:t> </a:t>
            </a:r>
            <a:r>
              <a:rPr lang="en-GB" dirty="0">
                <a:effectLst/>
                <a:latin typeface="Open Sans" panose="020B0606030504020204" pitchFamily="34" charset="0"/>
                <a:ea typeface="Open Sans" panose="020B0606030504020204" pitchFamily="34" charset="0"/>
                <a:cs typeface="Times New Roman" panose="02020603050405020304" pitchFamily="18" charset="0"/>
              </a:rPr>
              <a:t>goals in alignment with the project brief, the assessment rubric, and their personal long-term goals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dirty="0"/>
              <a:t>1/1</a:t>
            </a:r>
            <a:endParaRPr sz="1400" dirty="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191347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							</a:t>
            </a:r>
            <a:endParaRPr b="0" i="1" dirty="0"/>
          </a:p>
        </p:txBody>
      </p:sp>
      <p:sp>
        <p:nvSpPr>
          <p:cNvPr id="126" name="Google Shape;126;p16"/>
          <p:cNvSpPr txBox="1">
            <a:spLocks noGrp="1"/>
          </p:cNvSpPr>
          <p:nvPr>
            <p:ph type="body" idx="3"/>
          </p:nvPr>
        </p:nvSpPr>
        <p:spPr>
          <a:xfrm>
            <a:off x="182880" y="816077"/>
            <a:ext cx="5852100" cy="4218039"/>
          </a:xfrm>
          <a:prstGeom prst="rect">
            <a:avLst/>
          </a:prstGeom>
        </p:spPr>
        <p:txBody>
          <a:bodyPr spcFirstLastPara="1" wrap="square" lIns="91425" tIns="91425" rIns="91425" bIns="91425" anchor="t" anchorCtr="0">
            <a:noAutofit/>
          </a:bodyPr>
          <a:lstStyle/>
          <a:p>
            <a:pPr marL="0" indent="0" algn="just">
              <a:spcBef>
                <a:spcPts val="800"/>
              </a:spcBef>
              <a:buNone/>
            </a:pPr>
            <a:r>
              <a:rPr lang="en-US" sz="1400" b="1" dirty="0"/>
              <a:t>What I learned last block</a:t>
            </a:r>
            <a:endParaRPr lang="en" sz="1400" b="1" dirty="0"/>
          </a:p>
          <a:p>
            <a:pPr marL="0" lvl="0" indent="0" algn="just" rtl="0">
              <a:spcBef>
                <a:spcPts val="800"/>
              </a:spcBef>
              <a:spcAft>
                <a:spcPts val="0"/>
              </a:spcAft>
              <a:buNone/>
            </a:pPr>
            <a:r>
              <a:rPr lang="en-US" dirty="0"/>
              <a:t>I learned about how I can clean my data with different libraries and split my data to train and test.</a:t>
            </a:r>
            <a:br>
              <a:rPr lang="en-US" dirty="0"/>
            </a:br>
            <a:r>
              <a:rPr lang="en-US" dirty="0"/>
              <a:t>I learned how to fit my data to different models of machine learning and do hyperparameters to get more accurate answer for each models of machine learning.</a:t>
            </a:r>
          </a:p>
          <a:p>
            <a:pPr marL="0" lvl="0" indent="0" algn="just" rtl="0">
              <a:spcBef>
                <a:spcPts val="800"/>
              </a:spcBef>
              <a:spcAft>
                <a:spcPts val="0"/>
              </a:spcAft>
              <a:buNone/>
            </a:pPr>
            <a:endParaRPr lang="en-US" dirty="0"/>
          </a:p>
          <a:p>
            <a:pPr marL="0" lvl="0" indent="0" algn="just" rtl="0">
              <a:spcBef>
                <a:spcPts val="800"/>
              </a:spcBef>
              <a:spcAft>
                <a:spcPts val="0"/>
              </a:spcAft>
              <a:buNone/>
            </a:pPr>
            <a:endParaRPr lang="en-US" dirty="0"/>
          </a:p>
          <a:p>
            <a:pPr marL="0" indent="0" algn="just">
              <a:spcBef>
                <a:spcPts val="800"/>
              </a:spcBef>
              <a:buNone/>
            </a:pPr>
            <a:r>
              <a:rPr lang="en" sz="1400" b="1" dirty="0"/>
              <a:t>Feedback from the previous assessment</a:t>
            </a:r>
            <a:endParaRPr lang="en-US" sz="1400" b="1" dirty="0"/>
          </a:p>
          <a:p>
            <a:pPr marL="0" indent="0" algn="just">
              <a:spcBef>
                <a:spcPts val="800"/>
              </a:spcBef>
              <a:buNone/>
            </a:pPr>
            <a:r>
              <a:rPr lang="en-US" dirty="0"/>
              <a:t>The feedback that I get from previous assessment and previous block it was writing report very clear and put enough evidence for it because I lost many points from report part while my coding and creative brief was very good.</a:t>
            </a:r>
          </a:p>
          <a:p>
            <a:pPr marL="0" lvl="0" indent="0" algn="just" rtl="0">
              <a:spcBef>
                <a:spcPts val="800"/>
              </a:spcBef>
              <a:spcAft>
                <a:spcPts val="0"/>
              </a:spcAft>
              <a:buNone/>
            </a:pPr>
            <a:endParaRPr lang="en-US"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interpretation / key takeaways</a:t>
            </a:r>
          </a:p>
          <a:p>
            <a:pPr marL="0" lvl="0" indent="0" algn="just" rtl="0">
              <a:spcBef>
                <a:spcPts val="800"/>
              </a:spcBef>
              <a:spcAft>
                <a:spcPts val="0"/>
              </a:spcAft>
              <a:buNone/>
            </a:pPr>
            <a:r>
              <a:rPr lang="en-US" dirty="0"/>
              <a:t>My key takeaways is trying to not get behind and go with schedule. Get feedback for everything and prepare everything in order and always check it with my mentor.</a:t>
            </a:r>
            <a:endParaRPr dirty="0"/>
          </a:p>
        </p:txBody>
      </p:sp>
      <p:sp>
        <p:nvSpPr>
          <p:cNvPr id="138" name="Google Shape;138;p17"/>
          <p:cNvSpPr txBox="1"/>
          <p:nvPr/>
        </p:nvSpPr>
        <p:spPr>
          <a:xfrm>
            <a:off x="8041918" y="622373"/>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78</a:t>
            </a:r>
            <a:endParaRPr sz="3600" b="1" dirty="0">
              <a:solidFill>
                <a:srgbClr val="434343"/>
              </a:solidFill>
              <a:latin typeface="Roboto"/>
              <a:ea typeface="Roboto"/>
              <a:cs typeface="Roboto"/>
              <a:sym typeface="Roboto"/>
            </a:endParaRPr>
          </a:p>
        </p:txBody>
      </p:sp>
      <p:sp>
        <p:nvSpPr>
          <p:cNvPr id="3" name="TextBox 2">
            <a:extLst>
              <a:ext uri="{FF2B5EF4-FFF2-40B4-BE49-F238E27FC236}">
                <a16:creationId xmlns:a16="http://schemas.microsoft.com/office/drawing/2014/main" id="{9156ABB1-8FFA-E723-8CB4-7244488E2345}"/>
              </a:ext>
            </a:extLst>
          </p:cNvPr>
          <p:cNvSpPr txBox="1"/>
          <p:nvPr/>
        </p:nvSpPr>
        <p:spPr>
          <a:xfrm>
            <a:off x="5941502" y="915820"/>
            <a:ext cx="2100416" cy="307777"/>
          </a:xfrm>
          <a:prstGeom prst="rect">
            <a:avLst/>
          </a:prstGeom>
          <a:noFill/>
        </p:spPr>
        <p:txBody>
          <a:bodyPr wrap="square">
            <a:spAutoFit/>
          </a:bodyPr>
          <a:lstStyle/>
          <a:p>
            <a:r>
              <a:rPr lang="en-US" b="1" dirty="0">
                <a:solidFill>
                  <a:srgbClr val="FFFFFF"/>
                </a:solidFill>
                <a:latin typeface="Roboto"/>
                <a:ea typeface="Roboto"/>
                <a:cs typeface="Roboto"/>
                <a:sym typeface="Roboto"/>
              </a:rPr>
              <a:t>Previous block’s grade: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658312"/>
            <a:ext cx="5852100" cy="4297700"/>
          </a:xfrm>
          <a:prstGeom prst="rect">
            <a:avLst/>
          </a:prstGeom>
        </p:spPr>
        <p:txBody>
          <a:bodyPr spcFirstLastPara="1" wrap="square" lIns="91425" tIns="91425" rIns="91425" bIns="91425" anchor="t" anchorCtr="0">
            <a:noAutofit/>
          </a:bodyPr>
          <a:lstStyle/>
          <a:p>
            <a:pPr marL="0" lvl="0" indent="0" algn="l" rtl="0">
              <a:spcBef>
                <a:spcPts val="800"/>
              </a:spcBef>
              <a:spcAft>
                <a:spcPts val="0"/>
              </a:spcAft>
              <a:buNone/>
            </a:pPr>
            <a:r>
              <a:rPr lang="en" sz="1400" b="1" dirty="0"/>
              <a:t>Personal and professional development goals</a:t>
            </a:r>
            <a:endParaRPr sz="1400" b="1" dirty="0"/>
          </a:p>
          <a:p>
            <a:pPr marL="0" lvl="0" indent="0" algn="just" rtl="0">
              <a:lnSpc>
                <a:spcPct val="100000"/>
              </a:lnSpc>
              <a:spcBef>
                <a:spcPts val="800"/>
              </a:spcBef>
              <a:spcAft>
                <a:spcPts val="800"/>
              </a:spcAft>
              <a:buNone/>
            </a:pPr>
            <a:r>
              <a:rPr lang="en-US" sz="1050" b="1" dirty="0"/>
              <a:t>S</a:t>
            </a:r>
            <a:r>
              <a:rPr lang="en-US" sz="1050" dirty="0"/>
              <a:t>: My goal is to go to the gym three times per week and reach 75kg by the end of this block. I will achieve this by following a structured workout routine and tracking my progress using fitness applications.</a:t>
            </a:r>
          </a:p>
          <a:p>
            <a:pPr marL="0" lvl="0" indent="0" algn="just" rtl="0">
              <a:lnSpc>
                <a:spcPct val="100000"/>
              </a:lnSpc>
              <a:spcBef>
                <a:spcPts val="800"/>
              </a:spcBef>
              <a:spcAft>
                <a:spcPts val="800"/>
              </a:spcAft>
              <a:buNone/>
            </a:pPr>
            <a:r>
              <a:rPr lang="en-US" sz="1050" dirty="0"/>
              <a:t>M: I will track my gym attendance through the Basic-Fit app and monitor my weight changes using the </a:t>
            </a:r>
            <a:r>
              <a:rPr lang="en-US" sz="1050" dirty="0" err="1"/>
              <a:t>InBody</a:t>
            </a:r>
            <a:r>
              <a:rPr lang="en-US" sz="1050" dirty="0"/>
              <a:t> app. By checking my progress regularly, I can ensure I stay on track over the next two months.</a:t>
            </a:r>
          </a:p>
          <a:p>
            <a:pPr marL="0" lvl="0" indent="0" algn="just" rtl="0">
              <a:lnSpc>
                <a:spcPct val="100000"/>
              </a:lnSpc>
              <a:spcBef>
                <a:spcPts val="800"/>
              </a:spcBef>
              <a:spcAft>
                <a:spcPts val="800"/>
              </a:spcAft>
              <a:buNone/>
            </a:pPr>
            <a:r>
              <a:rPr lang="en-US" sz="1050" dirty="0"/>
              <a:t>A: Since I have previously reached this weight and maintained a consistent workout routine, I know it is realistic and attainable. By gradually increasing my training intensity, I can ensure steady progress.</a:t>
            </a:r>
          </a:p>
          <a:p>
            <a:pPr marL="0" lvl="0" indent="0" algn="just" rtl="0">
              <a:lnSpc>
                <a:spcPct val="100000"/>
              </a:lnSpc>
              <a:spcBef>
                <a:spcPts val="800"/>
              </a:spcBef>
              <a:spcAft>
                <a:spcPts val="800"/>
              </a:spcAft>
              <a:buNone/>
            </a:pPr>
            <a:r>
              <a:rPr lang="en-US" sz="1050" dirty="0"/>
              <a:t>R: This goal aligns with my broader objective of maintaining a healthy lifestyle, rather than just focusing on my career as a programmer or data engineer. Staying fit will contribute to my overall well-being and productivity.</a:t>
            </a:r>
          </a:p>
          <a:p>
            <a:pPr marL="0" lvl="0" indent="0" algn="just" rtl="0">
              <a:lnSpc>
                <a:spcPct val="100000"/>
              </a:lnSpc>
              <a:spcBef>
                <a:spcPts val="800"/>
              </a:spcBef>
              <a:spcAft>
                <a:spcPts val="800"/>
              </a:spcAft>
              <a:buNone/>
            </a:pPr>
            <a:r>
              <a:rPr lang="en-US" sz="1050" dirty="0"/>
              <a:t>T: I have set a clear deadline to reach 75kg by the end of this block (two months), ensuring that I stay committed and accountable throughout the period.</a:t>
            </a:r>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Specific:</a:t>
                      </a:r>
                      <a:r>
                        <a:rPr lang="en" sz="600" dirty="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Measurable:</a:t>
                      </a:r>
                      <a:r>
                        <a:rPr lang="en" sz="600" dirty="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Achievable:</a:t>
                      </a:r>
                      <a:r>
                        <a:rPr lang="en" sz="600" dirty="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Relevant:</a:t>
                      </a:r>
                      <a:r>
                        <a:rPr lang="en" sz="600" dirty="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Time-Bound:</a:t>
                      </a:r>
                      <a:r>
                        <a:rPr lang="en" sz="600" dirty="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Evaluate:</a:t>
                      </a:r>
                      <a:r>
                        <a:rPr lang="en" sz="60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dirty="0">
                          <a:latin typeface="Roboto"/>
                          <a:ea typeface="Roboto"/>
                          <a:cs typeface="Roboto"/>
                          <a:sym typeface="Roboto"/>
                        </a:rPr>
                        <a:t>Readjust:</a:t>
                      </a:r>
                      <a:r>
                        <a:rPr lang="en" sz="600" dirty="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dirty="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4C91157-0A91-5F5D-676E-A2CC2DF7A25D}"/>
              </a:ext>
            </a:extLst>
          </p:cNvPr>
          <p:cNvSpPr>
            <a:spLocks noGrp="1"/>
          </p:cNvSpPr>
          <p:nvPr>
            <p:ph type="body" idx="3"/>
          </p:nvPr>
        </p:nvSpPr>
        <p:spPr>
          <a:xfrm>
            <a:off x="182880" y="810322"/>
            <a:ext cx="8775266" cy="4154726"/>
          </a:xfrm>
        </p:spPr>
        <p:txBody>
          <a:bodyPr/>
          <a:lstStyle/>
          <a:p>
            <a:pPr marL="165100" indent="0">
              <a:lnSpc>
                <a:spcPct val="100000"/>
              </a:lnSpc>
              <a:buNone/>
            </a:pPr>
            <a:r>
              <a:rPr lang="en-US" sz="1100" b="1" dirty="0"/>
              <a:t>Specific</a:t>
            </a:r>
            <a:r>
              <a:rPr lang="en-US" dirty="0"/>
              <a:t>: My goal is to re-read the "Hands-On Machine Learning" book to deepen my understanding and complete another project alongside it. This will help me solidify my knowledge and gain practical experience.</a:t>
            </a:r>
          </a:p>
          <a:p>
            <a:pPr marL="165100" indent="0">
              <a:lnSpc>
                <a:spcPct val="100000"/>
              </a:lnSpc>
              <a:buNone/>
            </a:pPr>
            <a:endParaRPr lang="en-US" dirty="0"/>
          </a:p>
          <a:p>
            <a:pPr marL="165100" indent="0">
              <a:lnSpc>
                <a:spcPct val="100000"/>
              </a:lnSpc>
              <a:buNone/>
            </a:pPr>
            <a:r>
              <a:rPr lang="en-US" sz="1100" b="1" dirty="0"/>
              <a:t>Measurable</a:t>
            </a:r>
            <a:r>
              <a:rPr lang="en-US" dirty="0"/>
              <a:t>: I will track my progress by completing eight chapters by the end of this block. Additionally, I will measure my progress through the completion of a side project related to machine learning.</a:t>
            </a:r>
          </a:p>
          <a:p>
            <a:pPr marL="165100" indent="0">
              <a:lnSpc>
                <a:spcPct val="100000"/>
              </a:lnSpc>
              <a:buNone/>
            </a:pPr>
            <a:endParaRPr lang="en-US" dirty="0"/>
          </a:p>
          <a:p>
            <a:pPr marL="165100" indent="0">
              <a:lnSpc>
                <a:spcPct val="100000"/>
              </a:lnSpc>
              <a:buNone/>
            </a:pPr>
            <a:r>
              <a:rPr lang="en-US" sz="1100" b="1" dirty="0"/>
              <a:t>Achievable</a:t>
            </a:r>
            <a:r>
              <a:rPr lang="en-US" dirty="0"/>
              <a:t>: Since I successfully completed eight chapters in the previous block, I know this goal is realistic and attainable. By maintaining a structured reading schedule, I can manage both my studies and my project effectively.</a:t>
            </a:r>
          </a:p>
          <a:p>
            <a:pPr marL="165100" indent="0">
              <a:lnSpc>
                <a:spcPct val="100000"/>
              </a:lnSpc>
              <a:buNone/>
            </a:pPr>
            <a:endParaRPr lang="en-US" dirty="0"/>
          </a:p>
          <a:p>
            <a:pPr marL="165100" indent="0">
              <a:lnSpc>
                <a:spcPct val="100000"/>
              </a:lnSpc>
              <a:buNone/>
            </a:pPr>
            <a:r>
              <a:rPr lang="en-US" sz="1100" b="1" dirty="0"/>
              <a:t>Relevant</a:t>
            </a:r>
            <a:r>
              <a:rPr lang="en-US" dirty="0"/>
              <a:t>: This goal aligns with my long-term aspiration of becoming proficient in machine learning, which is essential for my career growth in data engineering and programming.</a:t>
            </a:r>
          </a:p>
          <a:p>
            <a:pPr marL="165100" indent="0">
              <a:lnSpc>
                <a:spcPct val="100000"/>
              </a:lnSpc>
              <a:buNone/>
            </a:pPr>
            <a:endParaRPr lang="en-US" dirty="0"/>
          </a:p>
          <a:p>
            <a:pPr marL="165100" indent="0">
              <a:lnSpc>
                <a:spcPct val="100000"/>
              </a:lnSpc>
              <a:buNone/>
            </a:pPr>
            <a:r>
              <a:rPr lang="en-US" sz="1100" b="1" dirty="0"/>
              <a:t>Time-Bound</a:t>
            </a:r>
            <a:r>
              <a:rPr lang="en-US" dirty="0"/>
              <a:t>: I have set a clear deadline to complete eight chapters and the project by the end of this block, ensuring I stay committed and make consistent progress.</a:t>
            </a:r>
          </a:p>
        </p:txBody>
      </p:sp>
    </p:spTree>
    <p:extLst>
      <p:ext uri="{BB962C8B-B14F-4D97-AF65-F5344CB8AC3E}">
        <p14:creationId xmlns:p14="http://schemas.microsoft.com/office/powerpoint/2010/main" val="1834385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D26E9-7166-36E8-77D1-D21FCA6E1503}"/>
              </a:ext>
            </a:extLst>
          </p:cNvPr>
          <p:cNvSpPr>
            <a:spLocks noGrp="1"/>
          </p:cNvSpPr>
          <p:nvPr>
            <p:ph type="ctrTitle"/>
          </p:nvPr>
        </p:nvSpPr>
        <p:spPr>
          <a:xfrm>
            <a:off x="3595254" y="70667"/>
            <a:ext cx="4937700" cy="3264300"/>
          </a:xfrm>
        </p:spPr>
        <p:txBody>
          <a:bodyPr/>
          <a:lstStyle/>
          <a:p>
            <a:r>
              <a:rPr lang="en-US" sz="1100" dirty="0"/>
              <a:t>First week </a:t>
            </a:r>
            <a:br>
              <a:rPr lang="en-US" sz="1100" dirty="0"/>
            </a:br>
            <a:r>
              <a:rPr lang="en-US" sz="1100" dirty="0"/>
              <a:t>For the first week I real the chapter one completely to review it.</a:t>
            </a:r>
            <a:br>
              <a:rPr lang="en-US" sz="1100" dirty="0"/>
            </a:br>
            <a:br>
              <a:rPr lang="en-US" sz="1100" dirty="0"/>
            </a:br>
            <a:r>
              <a:rPr lang="en-US" sz="1100" dirty="0"/>
              <a:t>Second week</a:t>
            </a:r>
            <a:br>
              <a:rPr lang="en-US" sz="1100" dirty="0"/>
            </a:br>
            <a:r>
              <a:rPr lang="en-US" sz="1100" dirty="0"/>
              <a:t>I started the second chapter but because it was a lots of data I read ½ of second Chapter.</a:t>
            </a:r>
            <a:br>
              <a:rPr lang="en-US" sz="1100" dirty="0"/>
            </a:br>
            <a:br>
              <a:rPr lang="en-US" sz="1100" dirty="0"/>
            </a:br>
            <a:r>
              <a:rPr lang="en-US" sz="1100" dirty="0"/>
              <a:t>Third week</a:t>
            </a:r>
            <a:br>
              <a:rPr lang="en-US" sz="1100" dirty="0"/>
            </a:br>
            <a:r>
              <a:rPr lang="en-US" sz="1100" dirty="0"/>
              <a:t>I was able to finish chapter 2 and also reread the first part of chapter 2.</a:t>
            </a:r>
            <a:br>
              <a:rPr lang="en-US" sz="1100" dirty="0"/>
            </a:br>
            <a:br>
              <a:rPr lang="en-US" sz="1100" dirty="0"/>
            </a:br>
            <a:r>
              <a:rPr lang="en-US" sz="1100" dirty="0"/>
              <a:t>Fourth week</a:t>
            </a:r>
            <a:br>
              <a:rPr lang="en-US" sz="1100" dirty="0"/>
            </a:br>
            <a:r>
              <a:rPr lang="en-US" sz="1100" dirty="0"/>
              <a:t>I started chapter 3 which it was about classification and it was quite hard to understand it.</a:t>
            </a:r>
            <a:br>
              <a:rPr lang="en-US" sz="1100" dirty="0"/>
            </a:br>
            <a:br>
              <a:rPr lang="en-US" sz="1100" dirty="0"/>
            </a:br>
            <a:r>
              <a:rPr lang="en-US" sz="1100" dirty="0"/>
              <a:t>Fifth week </a:t>
            </a:r>
            <a:br>
              <a:rPr lang="en-US" sz="1100" dirty="0"/>
            </a:br>
            <a:r>
              <a:rPr lang="en-US" sz="1100" dirty="0"/>
              <a:t>I was sick the whole week so I couldn’t study at all.</a:t>
            </a:r>
            <a:br>
              <a:rPr lang="en-US" sz="1100" dirty="0"/>
            </a:br>
            <a:br>
              <a:rPr lang="en-US" sz="1100" dirty="0"/>
            </a:br>
            <a:r>
              <a:rPr lang="en-US" sz="1100" dirty="0"/>
              <a:t>Sixth week </a:t>
            </a:r>
            <a:br>
              <a:rPr lang="en-US" sz="1100" dirty="0"/>
            </a:br>
            <a:r>
              <a:rPr lang="en-US" sz="1100" dirty="0"/>
              <a:t>I started reading chapter four which it was about training models and decision tree part which I really like this part.</a:t>
            </a:r>
            <a:br>
              <a:rPr lang="en-US" sz="1100" dirty="0"/>
            </a:br>
            <a:br>
              <a:rPr lang="en-US" sz="1100" dirty="0"/>
            </a:br>
            <a:r>
              <a:rPr lang="en-US" sz="1100" dirty="0"/>
              <a:t>Seventh Week</a:t>
            </a:r>
            <a:br>
              <a:rPr lang="en-US" sz="1100" dirty="0"/>
            </a:br>
            <a:r>
              <a:rPr lang="en-US" sz="1100" dirty="0"/>
              <a:t>I started reading chapter 6 which it was about the continue of decision tree and Random forest.</a:t>
            </a:r>
          </a:p>
        </p:txBody>
      </p:sp>
      <p:sp>
        <p:nvSpPr>
          <p:cNvPr id="3" name="Subtitle 2">
            <a:extLst>
              <a:ext uri="{FF2B5EF4-FFF2-40B4-BE49-F238E27FC236}">
                <a16:creationId xmlns:a16="http://schemas.microsoft.com/office/drawing/2014/main" id="{91BDE20E-607A-72E7-D95E-13A27A21F7EC}"/>
              </a:ext>
            </a:extLst>
          </p:cNvPr>
          <p:cNvSpPr>
            <a:spLocks noGrp="1"/>
          </p:cNvSpPr>
          <p:nvPr>
            <p:ph type="subTitle" idx="1"/>
          </p:nvPr>
        </p:nvSpPr>
        <p:spPr>
          <a:xfrm>
            <a:off x="297873" y="320049"/>
            <a:ext cx="2514600" cy="3808605"/>
          </a:xfrm>
        </p:spPr>
        <p:txBody>
          <a:bodyPr/>
          <a:lstStyle/>
          <a:p>
            <a:r>
              <a:rPr lang="en-US" sz="1000" dirty="0"/>
              <a:t>GYM</a:t>
            </a:r>
          </a:p>
          <a:p>
            <a:pPr>
              <a:buFont typeface="Arial" panose="020B0604020202020204" pitchFamily="34" charset="0"/>
              <a:buChar char="•"/>
            </a:pPr>
            <a:r>
              <a:rPr lang="en-US" sz="1000" b="1" dirty="0"/>
              <a:t>First week </a:t>
            </a:r>
            <a:br>
              <a:rPr lang="en-US" sz="1000" b="1" dirty="0"/>
            </a:br>
            <a:r>
              <a:rPr lang="en-US" sz="1000" b="1" dirty="0"/>
              <a:t>I was able to going to the gym 3 times a week.</a:t>
            </a:r>
          </a:p>
          <a:p>
            <a:pPr>
              <a:buFont typeface="Arial" panose="020B0604020202020204" pitchFamily="34" charset="0"/>
              <a:buChar char="•"/>
            </a:pPr>
            <a:r>
              <a:rPr lang="en-US" sz="1000" b="1" dirty="0"/>
              <a:t>Second week</a:t>
            </a:r>
            <a:br>
              <a:rPr lang="en-US" sz="1000" b="1" dirty="0"/>
            </a:br>
            <a:r>
              <a:rPr lang="en-US" sz="1000" b="1" dirty="0"/>
              <a:t>This week due to getting used to study I went to the gym 2 times.</a:t>
            </a:r>
          </a:p>
          <a:p>
            <a:pPr>
              <a:buFont typeface="Arial" panose="020B0604020202020204" pitchFamily="34" charset="0"/>
              <a:buChar char="•"/>
            </a:pPr>
            <a:r>
              <a:rPr lang="en-US" sz="1000" b="1" dirty="0"/>
              <a:t>Third week </a:t>
            </a:r>
            <a:br>
              <a:rPr lang="en-US" sz="1000" b="1" dirty="0"/>
            </a:br>
            <a:r>
              <a:rPr lang="en-US" sz="1000" b="1" dirty="0"/>
              <a:t>I was able to go to the gym 3 times this week and I am close to 72 KG.</a:t>
            </a:r>
          </a:p>
          <a:p>
            <a:pPr>
              <a:buFont typeface="Arial" panose="020B0604020202020204" pitchFamily="34" charset="0"/>
              <a:buChar char="•"/>
            </a:pPr>
            <a:r>
              <a:rPr lang="en-US" sz="1000" b="1" dirty="0"/>
              <a:t>Fourth Week</a:t>
            </a:r>
            <a:br>
              <a:rPr lang="en-US" sz="1000" b="1" dirty="0"/>
            </a:br>
            <a:r>
              <a:rPr lang="en-US" sz="1000" b="1" dirty="0"/>
              <a:t>I was able to go the basic fic this week 4 times a week.</a:t>
            </a:r>
          </a:p>
          <a:p>
            <a:pPr>
              <a:buFont typeface="Arial" panose="020B0604020202020204" pitchFamily="34" charset="0"/>
              <a:buChar char="•"/>
            </a:pPr>
            <a:r>
              <a:rPr lang="en-US" sz="1000" b="1" dirty="0"/>
              <a:t>Fifth week</a:t>
            </a:r>
            <a:br>
              <a:rPr lang="en-US" sz="1000" b="1" dirty="0"/>
            </a:br>
            <a:r>
              <a:rPr lang="en-US" sz="1000" b="1" dirty="0"/>
              <a:t>I wasn’t able to go to the gym due to illness.</a:t>
            </a:r>
          </a:p>
          <a:p>
            <a:pPr>
              <a:buFont typeface="Arial" panose="020B0604020202020204" pitchFamily="34" charset="0"/>
              <a:buChar char="•"/>
            </a:pPr>
            <a:r>
              <a:rPr lang="en-US" sz="1000" b="1" dirty="0"/>
              <a:t>Sixth week</a:t>
            </a:r>
            <a:br>
              <a:rPr lang="en-US" sz="1000" b="1" dirty="0"/>
            </a:br>
            <a:r>
              <a:rPr lang="en-US" sz="1000" b="1" dirty="0"/>
              <a:t>I didn’t get better and I also lost my weight due to illness and getting back to 69.</a:t>
            </a:r>
          </a:p>
          <a:p>
            <a:pPr>
              <a:buFont typeface="Arial" panose="020B0604020202020204" pitchFamily="34" charset="0"/>
              <a:buChar char="•"/>
            </a:pPr>
            <a:r>
              <a:rPr lang="en-US" sz="1000" b="1" dirty="0"/>
              <a:t>Seventh week </a:t>
            </a:r>
            <a:br>
              <a:rPr lang="en-US" sz="1000" b="1" dirty="0"/>
            </a:br>
            <a:r>
              <a:rPr lang="en-US" sz="1000" b="1" dirty="0"/>
              <a:t>I was able go to the gym 3 times a week but I lost my weight an muscle so need to work more now.</a:t>
            </a:r>
          </a:p>
        </p:txBody>
      </p:sp>
    </p:spTree>
    <p:extLst>
      <p:ext uri="{BB962C8B-B14F-4D97-AF65-F5344CB8AC3E}">
        <p14:creationId xmlns:p14="http://schemas.microsoft.com/office/powerpoint/2010/main" val="789222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For the start of this block, I have set a goal for myself to first understand very well what is expected from us and what we need to do. In the previous block, I was confused at the beginning, so this time I want to ensure clarity from the start.</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t>In the first week, I understood the differences between bias and fairness. I also gained clarity on what we need to do and the project for this block.</a:t>
            </a:r>
          </a:p>
          <a:p>
            <a:pPr marL="27940" lvl="0" indent="0" algn="l" rtl="0">
              <a:spcBef>
                <a:spcPts val="0"/>
              </a:spcBef>
              <a:spcAft>
                <a:spcPts val="0"/>
              </a:spcAft>
              <a:buSzPts val="1000"/>
              <a:buNone/>
            </a:pPr>
            <a:r>
              <a:rPr lang="en-US" dirty="0"/>
              <a:t>I also collect my dataset for my project.</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Generative AI</a:t>
            </a:r>
            <a:br>
              <a:rPr lang="en-US" dirty="0"/>
            </a:br>
            <a:endParaRPr lang="en-US" dirty="0"/>
          </a:p>
          <a:p>
            <a:pPr marL="27940" lvl="0" indent="0" algn="l" rtl="0">
              <a:spcBef>
                <a:spcPts val="0"/>
              </a:spcBef>
              <a:spcAft>
                <a:spcPts val="0"/>
              </a:spcAft>
              <a:buSzPts val="1000"/>
              <a:buNone/>
            </a:pPr>
            <a:r>
              <a:rPr lang="en-US" dirty="0"/>
              <a:t>Here is the link to my code, which shows how I obtained a dataset from Generative AI using the prompt I wrote.</a:t>
            </a:r>
            <a:endParaRPr dirty="0"/>
          </a:p>
        </p:txBody>
      </p:sp>
      <p:sp>
        <p:nvSpPr>
          <p:cNvPr id="164" name="Google Shape;164;p20"/>
          <p:cNvSpPr txBox="1">
            <a:spLocks noGrp="1"/>
          </p:cNvSpPr>
          <p:nvPr>
            <p:ph type="body" idx="3"/>
          </p:nvPr>
        </p:nvSpPr>
        <p:spPr>
          <a:xfrm>
            <a:off x="4572000" y="1152697"/>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The week went well; there wasn't much to do, and my goal was to first understand this block.</a:t>
            </a:r>
          </a:p>
          <a:p>
            <a:pPr marL="182880" lvl="0" indent="-154940" algn="l" rtl="0">
              <a:spcBef>
                <a:spcPts val="0"/>
              </a:spcBef>
              <a:spcAft>
                <a:spcPts val="0"/>
              </a:spcAft>
              <a:buSzPts val="1000"/>
              <a:buChar char="●"/>
            </a:pPr>
            <a:r>
              <a:rPr lang="en-US" dirty="0"/>
              <a:t>What went well? </a:t>
            </a:r>
          </a:p>
          <a:p>
            <a:pPr marL="27940" lvl="0" indent="0" algn="l" rtl="0">
              <a:spcBef>
                <a:spcPts val="0"/>
              </a:spcBef>
              <a:spcAft>
                <a:spcPts val="0"/>
              </a:spcAft>
              <a:buSzPts val="1000"/>
              <a:buNone/>
            </a:pPr>
            <a:r>
              <a:rPr lang="en-US" dirty="0"/>
              <a:t>At first, collecting the dataset was a bit difficult for me because of the project I had chosen. However, after changing my project, I was able to collect the dataset easily, which I think is a good improvement.</a:t>
            </a:r>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US" dirty="0"/>
              <a:t>Well, on the second day of the week, I was supposed to create a DAPS diagram, but I wasn't successful in doing it, and I didn't understand it very well.</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US" dirty="0"/>
              <a:t>Well, in the first week, I learned the difference between bias and fairness. I also learned how to collect datasets using Generative AI and web scraping, as well as how to write GUI Python code.</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For next week, I want to complete my Responsible AI template, stay on track with others, and start reading the book earlier so that I feel more comfortable</a:t>
            </a:r>
            <a:r>
              <a:rPr lang="en" dirty="0"/>
              <a:t>.</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p>
          <a:p>
            <a:pPr marL="27940" lvl="0" indent="0" algn="l" rtl="0">
              <a:spcBef>
                <a:spcPts val="0"/>
              </a:spcBef>
              <a:spcAft>
                <a:spcPts val="0"/>
              </a:spcAft>
              <a:buSzPts val="1000"/>
              <a:buNone/>
            </a:pPr>
            <a:r>
              <a:rPr lang="en-US" dirty="0"/>
              <a:t>The first feedback I received was from my mentor, Avril. We reviewed my SMART goals, business understanding template, and DAPS diagram. She advised me to be more specific and detailed in my DAPS diagram, so I revised and corrected it accordingly.</a:t>
            </a:r>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3" name="Google Shape;203;p24"/>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 dirty="0"/>
              <a:t>For this week I set a goal for my self to first finish Socratic dialogue and then start reading KERAS from data camp.</a:t>
            </a:r>
            <a:endParaRPr dirty="0"/>
          </a:p>
          <a:p>
            <a:pPr marL="182880" lvl="0" indent="-154940" algn="l" rtl="0">
              <a:spcBef>
                <a:spcPts val="0"/>
              </a:spcBef>
              <a:spcAft>
                <a:spcPts val="0"/>
              </a:spcAft>
              <a:buSzPts val="1000"/>
              <a:buChar char="●"/>
            </a:pPr>
            <a:r>
              <a:rPr lang="en" dirty="0"/>
              <a:t>What have you actually been able to do?</a:t>
            </a:r>
          </a:p>
          <a:p>
            <a:pPr marL="27940" lvl="0" indent="0" algn="l" rtl="0">
              <a:spcBef>
                <a:spcPts val="0"/>
              </a:spcBef>
              <a:spcAft>
                <a:spcPts val="0"/>
              </a:spcAft>
              <a:buSzPts val="1000"/>
              <a:buNone/>
            </a:pPr>
            <a:r>
              <a:rPr lang="en" dirty="0"/>
              <a:t>Well this week I started to read and get some information about Keras which it is a first part to start Deep learning. </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Data camp course</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Well, for this week I did data camp course about Karas and it was really useful for me. </a:t>
            </a:r>
            <a:endParaRPr dirty="0"/>
          </a:p>
        </p:txBody>
      </p:sp>
      <p:sp>
        <p:nvSpPr>
          <p:cNvPr id="206" name="Google Shape;206;p24"/>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a:t>
            </a:r>
          </a:p>
          <a:p>
            <a:pPr marL="27940" lvl="0" indent="0" algn="l" rtl="0">
              <a:spcBef>
                <a:spcPts val="0"/>
              </a:spcBef>
              <a:spcAft>
                <a:spcPts val="0"/>
              </a:spcAft>
              <a:buSzPts val="1000"/>
              <a:buNone/>
            </a:pPr>
            <a:r>
              <a:rPr lang="en" dirty="0"/>
              <a:t>The week went well. I have got good knowledge about Keras and starting Deep learning. </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L</a:t>
            </a:r>
            <a:r>
              <a:rPr lang="en" dirty="0"/>
              <a:t>earning Keras and starting Deep learning I really enjoyed it.</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Socratic dialogue I did not like it so much I think I did well on it but it wasn’t that things that I enjoyed it.</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As I mentioned earlier I start to learn </a:t>
            </a:r>
            <a:r>
              <a:rPr lang="en-US" dirty="0"/>
              <a:t>k</a:t>
            </a:r>
            <a:r>
              <a:rPr lang="en" dirty="0"/>
              <a:t>eras which it was realy interesting.</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P</a:t>
            </a:r>
            <a:r>
              <a:rPr lang="en" dirty="0"/>
              <a:t>ut more time on learning Keras and learn how to build a model like CNN or MLP.</a:t>
            </a:r>
            <a:endParaRPr dirty="0"/>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p>
          <a:p>
            <a:pPr marL="27940" lvl="0" indent="0" algn="l" rtl="0">
              <a:spcBef>
                <a:spcPts val="0"/>
              </a:spcBef>
              <a:spcAft>
                <a:spcPts val="0"/>
              </a:spcAft>
              <a:buSzPts val="1000"/>
              <a:buNone/>
            </a:pPr>
            <a:r>
              <a:rPr lang="en-US" dirty="0"/>
              <a:t>This week, I received feedback from Erfan. I showed him my templates, and he suggested that I use more bullet points, especially in my business understanding template. He also recommended some websites to read about </a:t>
            </a:r>
            <a:r>
              <a:rPr lang="en-US" dirty="0" err="1"/>
              <a:t>Keras</a:t>
            </a:r>
            <a:r>
              <a:rPr lang="en-US" dirty="0"/>
              <a:t> and TensorFlow, so I can deepen my understanding. Additionally, he shared a few notebooks related to CNN models, which I believe will be very useful for my learning.</a:t>
            </a:r>
            <a:endParaRPr dirty="0"/>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 dirty="0"/>
              <a:t>For this week the goal was to start doing my wireframe and making my application more colorful and be</a:t>
            </a:r>
            <a:r>
              <a:rPr lang="en-US" dirty="0"/>
              <a:t>a</a:t>
            </a:r>
            <a:r>
              <a:rPr lang="en" dirty="0"/>
              <a:t>utiful.</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 dirty="0"/>
              <a:t>In this week luckily I was abl to fifnish my first and second iteration of my wireframe and also watching other part of Data camp course.</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Block C – Figma</a:t>
            </a:r>
            <a:endParaRPr lang="en" dirty="0"/>
          </a:p>
          <a:p>
            <a:pPr marL="27940" lvl="0" indent="0" algn="l" rtl="0">
              <a:spcBef>
                <a:spcPts val="0"/>
              </a:spcBef>
              <a:spcAft>
                <a:spcPts val="0"/>
              </a:spcAft>
              <a:buSzPts val="1000"/>
              <a:buNone/>
            </a:pPr>
            <a:r>
              <a:rPr lang="en" dirty="0"/>
              <a:t>This link shows that I was able to finish my first and second iteration of my wireframe and also I think I did well on it.</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 dirty="0"/>
              <a:t>The week went well I think  because I was able to watched the other part of Data camp course and also start doing my second and first iteration of my wireframe.</a:t>
            </a:r>
            <a:endParaRPr dirty="0"/>
          </a:p>
          <a:p>
            <a:pPr marL="182880" lvl="0" indent="-154940" algn="l" rtl="0">
              <a:spcBef>
                <a:spcPts val="0"/>
              </a:spcBef>
              <a:spcAft>
                <a:spcPts val="0"/>
              </a:spcAft>
              <a:buSzPts val="1000"/>
              <a:buChar char="●"/>
            </a:pPr>
            <a:r>
              <a:rPr lang="en" dirty="0"/>
              <a:t>What went well?</a:t>
            </a:r>
          </a:p>
          <a:p>
            <a:pPr marL="27940" lvl="0" indent="0" algn="l" rtl="0">
              <a:spcBef>
                <a:spcPts val="0"/>
              </a:spcBef>
              <a:spcAft>
                <a:spcPts val="0"/>
              </a:spcAft>
              <a:buSzPts val="1000"/>
              <a:buNone/>
            </a:pPr>
            <a:r>
              <a:rPr lang="en" dirty="0"/>
              <a:t>The wireframe I think went well and I really enjoyed it beca</a:t>
            </a:r>
            <a:r>
              <a:rPr lang="en-US" dirty="0"/>
              <a:t>us</a:t>
            </a:r>
            <a:r>
              <a:rPr lang="en" dirty="0"/>
              <a:t>e before I did not know this application exist and it is realy good for front-end developer beca</a:t>
            </a:r>
            <a:r>
              <a:rPr lang="en-US" dirty="0"/>
              <a:t>us</a:t>
            </a:r>
            <a:r>
              <a:rPr lang="en" dirty="0"/>
              <a:t>e now they can have a coding of everything easily. </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Nothing I think j</a:t>
            </a:r>
            <a:r>
              <a:rPr lang="en-US" dirty="0"/>
              <a:t>us</a:t>
            </a:r>
            <a:r>
              <a:rPr lang="en" dirty="0"/>
              <a:t>t I was sick in this week and </a:t>
            </a:r>
            <a:r>
              <a:rPr lang="en-US" dirty="0"/>
              <a:t>I</a:t>
            </a:r>
            <a:r>
              <a:rPr lang="en" dirty="0"/>
              <a:t> think I just need to work harder next week and payy of this week.</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How to design and do ux and ui of my application and how to work in figma and design my application.</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P</a:t>
            </a:r>
            <a:r>
              <a:rPr lang="en" dirty="0"/>
              <a:t>ut more time to study more because I was sick in this week and I need to pay off this week.</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r>
              <a:rPr lang="en-US" dirty="0"/>
              <a:t>This week, I received feedback from Nika because I was facing several challenges with creating my wireframe. I wasn’t sure how to design the layout, connect the buttons properly, or add functional links between the pages. After working on it, I managed to complete the basic wireframe. Nika then reviewed it and gave me helpful feedback. She suggested changing the layout, adjusting the colors, and redesigning the shape of the buttons to improve the overall look and feel. She also recommended adding more pages to make the wireframe appear more complete and professional. Her input helped me see how important the user experience and visual design are, even in the early stages of development.</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a:t>
            </a:r>
            <a:r>
              <a:rPr lang="en" dirty="0"/>
              <a:t>or this week my goal is to start data augmentation and also start transfer learning . Make my wireframe look better and make all the buttons work.</a:t>
            </a:r>
          </a:p>
          <a:p>
            <a:pPr marL="27940" lvl="0" indent="0" algn="l" rtl="0">
              <a:spcBef>
                <a:spcPts val="0"/>
              </a:spcBef>
              <a:spcAft>
                <a:spcPts val="0"/>
              </a:spcAft>
              <a:buSzPts val="1000"/>
              <a:buNone/>
            </a:pPr>
            <a:r>
              <a:rPr lang="en" dirty="0"/>
              <a:t>Start working on my deep learning template and collecting more data set and do preprocessing of my data.</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T</a:t>
            </a:r>
            <a:r>
              <a:rPr lang="en" dirty="0"/>
              <a:t>his week I was able to do data aumentation and transfer learning working on my deep learning template.</a:t>
            </a:r>
          </a:p>
          <a:p>
            <a:pPr marL="27940" lvl="0" indent="0" algn="l" rtl="0">
              <a:spcBef>
                <a:spcPts val="0"/>
              </a:spcBef>
              <a:spcAft>
                <a:spcPts val="0"/>
              </a:spcAft>
              <a:buSzPts val="1000"/>
              <a:buNone/>
            </a:pP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Deep learning template </a:t>
            </a:r>
            <a:endParaRPr lang="en-US" dirty="0"/>
          </a:p>
          <a:p>
            <a:pPr marL="27940" lvl="0" indent="0" algn="l" rtl="0">
              <a:spcBef>
                <a:spcPts val="0"/>
              </a:spcBef>
              <a:spcAft>
                <a:spcPts val="0"/>
              </a:spcAft>
              <a:buSzPts val="1000"/>
              <a:buNone/>
            </a:pPr>
            <a:r>
              <a:rPr lang="en-US" dirty="0"/>
              <a:t>This link above shows that I was able to data augmentation and transfer learning on my dataset.</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 dirty="0"/>
              <a:t>The week went well I think I was able to work on deep learning template I didn’t get good accuracy but I was able to finish it.</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US" dirty="0"/>
              <a:t>T</a:t>
            </a:r>
            <a:r>
              <a:rPr lang="en" dirty="0"/>
              <a:t>ransfer learning part went well and collecting more data for my dataset based on the link which it was on data lab contents.</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Data augmentation didn’t go well I mean I did each part clearly but at the end I didn’t get good accuracy.</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I learned that data augmentation didn’t work on any data set it might get wore accuracy at some data set so you don’t need to do it each step.</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 dirty="0"/>
              <a:t>For the next week I want to work more on Deep learning template and change some parameters to might get better accuracy in transfer learning and data aumentation.</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r>
              <a:rPr lang="en-US" dirty="0"/>
              <a:t>This week, I received feedback from Asma regarding my deep learning template. She pointed out that I had mistakenly applied data augmentation in the transfer learning section, which wasn’t appropriate. I corrected this after our discussion. We also compared the performance of our models and analyzed the accuracy. Since Asma’s model was built for a binary classification problem with only two classes, she achieved a higher accuracy—around 75%. My model, on the other hand, was trained on a more complex dataset with four different classes, so the accuracy was naturally lower—about 60%. It made sense that her model performed better due to the simpler classification task. This comparison helped me better understand how dataset complexity and class distribution can affect model performance.</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Tree>
    <p:extLst>
      <p:ext uri="{BB962C8B-B14F-4D97-AF65-F5344CB8AC3E}">
        <p14:creationId xmlns:p14="http://schemas.microsoft.com/office/powerpoint/2010/main" val="3366952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 dirty="0"/>
              <a:t>For this week my goal it was to finish my wireframe and make a survey for HLP of my deep learning template and work on my model imrovement part of deep learning.</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US" dirty="0"/>
              <a:t>W</a:t>
            </a:r>
            <a:r>
              <a:rPr lang="en" dirty="0"/>
              <a:t>ell, I think I was able to do all the goals that I seted for this week and everything went well.</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Deep learning</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hlinkClick r:id="rId4"/>
              </a:rPr>
              <a:t>Survey</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These two link above shows that I was able to work on my deep learning model improvement and also do the quiz survey for HLP.</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a:t>
            </a:r>
            <a:r>
              <a:rPr lang="en" dirty="0"/>
              <a:t>he week went well I did what I have suppose to do.</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 dirty="0"/>
              <a:t>I really enjoyed about coding and changing parameter about CNN a=or pretrained model part of Deep learning template.</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The think that did not went well I think it was just the youtube video which </a:t>
            </a:r>
            <a:r>
              <a:rPr lang="en-US" dirty="0"/>
              <a:t>I</a:t>
            </a:r>
            <a:r>
              <a:rPr lang="en" dirty="0"/>
              <a:t>t was about Introduction to MLP.</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US" dirty="0"/>
              <a:t>W</a:t>
            </a:r>
            <a:r>
              <a:rPr lang="en" dirty="0"/>
              <a:t>ell fortunateky I was able to finish wireframe abd I learned how to work with figma and do UX and UI.</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 dirty="0"/>
              <a:t>For the next week I just need to work on my deep learning template to see can I imrove my accuracy or not.</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This week, I received feedback from Barsam on both my deep learning template and the survey I created about skin types. I had asked him to complete the survey, and his responses helped me validate the data I was collecting from users. He also guided me on how to calculate Human-Level Performance (HLP) for my dataset, which turned out to be 78%. This was reassuring, as it wasn’t far from the accuracy I achieved using transfer learning in Iteration 3. Additionally, I asked for his opinion on Iteration 4 and the custom CNN model I used. Since my dataset is relatively complex, with four different skin classes, he suggested that I add more dense layers to the architecture. This could help the model learn deeper patterns and potentially improve its performance. His feedback was really useful in helping me understand both the theoretical and practical aspects of model design and evaluation.</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Tree>
    <p:extLst>
      <p:ext uri="{BB962C8B-B14F-4D97-AF65-F5344CB8AC3E}">
        <p14:creationId xmlns:p14="http://schemas.microsoft.com/office/powerpoint/2010/main" val="1600689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a:t>
            </a:r>
            <a:r>
              <a:rPr lang="en" dirty="0"/>
              <a:t>or this week I want to re check about my Business undrestanding template and also responsible AI and Human centered AI.</a:t>
            </a:r>
            <a:endParaRPr dirty="0"/>
          </a:p>
          <a:p>
            <a:pPr marL="182880" lvl="0" indent="-154940" algn="l" rtl="0">
              <a:spcBef>
                <a:spcPts val="0"/>
              </a:spcBef>
              <a:spcAft>
                <a:spcPts val="0"/>
              </a:spcAft>
              <a:buSzPts val="1000"/>
              <a:buChar char="●"/>
            </a:pPr>
            <a:r>
              <a:rPr lang="en" dirty="0"/>
              <a:t>What have you actually been able to do? </a:t>
            </a:r>
          </a:p>
          <a:p>
            <a:pPr marL="27940" lvl="0" indent="0" algn="l" rtl="0">
              <a:spcBef>
                <a:spcPts val="0"/>
              </a:spcBef>
              <a:spcAft>
                <a:spcPts val="0"/>
              </a:spcAft>
              <a:buSzPts val="1000"/>
              <a:buNone/>
            </a:pPr>
            <a:r>
              <a:rPr lang="en" dirty="0"/>
              <a:t>For this week I was able to check business undrestanding template and Human centered AI because I was abale to finish my wireframe.</a:t>
            </a: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hlinkClick r:id="rId3"/>
              </a:rPr>
              <a:t>Responsible AI</a:t>
            </a:r>
            <a:endParaRPr lang="en-US" dirty="0"/>
          </a:p>
          <a:p>
            <a:pPr marL="27940" lvl="0" indent="0" algn="l" rtl="0">
              <a:spcBef>
                <a:spcPts val="0"/>
              </a:spcBef>
              <a:spcAft>
                <a:spcPts val="0"/>
              </a:spcAft>
              <a:buSzPts val="1000"/>
              <a:buNone/>
            </a:pPr>
            <a:r>
              <a:rPr lang="en-US" dirty="0">
                <a:hlinkClick r:id="rId4"/>
              </a:rPr>
              <a:t>Human Centered AI</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These links above shows that I was able to almost finish my template and fill most part that I was done with it.</a:t>
            </a: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 dirty="0"/>
              <a:t>The week went well and I think I did well this week I still have 2 more weeks and have time to check my template again and give some feedback.</a:t>
            </a:r>
            <a:endParaRPr dirty="0"/>
          </a:p>
          <a:p>
            <a:pPr marL="182880" lvl="0" indent="-154940" algn="l" rtl="0">
              <a:spcBef>
                <a:spcPts val="0"/>
              </a:spcBef>
              <a:spcAft>
                <a:spcPts val="0"/>
              </a:spcAft>
              <a:buSzPts val="1000"/>
              <a:buChar char="●"/>
            </a:pPr>
            <a:r>
              <a:rPr lang="en" dirty="0"/>
              <a:t>What went well? </a:t>
            </a:r>
          </a:p>
          <a:p>
            <a:pPr marL="27940" lvl="0" indent="0" algn="l" rtl="0">
              <a:spcBef>
                <a:spcPts val="0"/>
              </a:spcBef>
              <a:spcAft>
                <a:spcPts val="0"/>
              </a:spcAft>
              <a:buSzPts val="1000"/>
              <a:buNone/>
            </a:pPr>
            <a:r>
              <a:rPr lang="en" dirty="0"/>
              <a:t>The think went well it was my responsible AI I was able to finsih most part of it just last part which I will do it next week.</a:t>
            </a:r>
            <a:endParaRPr dirty="0"/>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 dirty="0"/>
              <a:t>Human centered AI there are some tasks that are related for week 7 and 8 which I wasn’t able to finish it.</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 dirty="0"/>
              <a:t>How to make a question or make a interview for my wireframe and get feedback from my peers.</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F</a:t>
            </a:r>
            <a:r>
              <a:rPr lang="en" dirty="0"/>
              <a:t>inishing templates as soon as possible to get another feedback from my metors.</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For this block, I received feedback from Omar. We reviewed our templates together, focusing especially on the Responsible AI template and the Business Understanding template. Omar gave me valuable feedback on the first two sections of my Responsible AI template, specifically around fairness and bias. He pointed out that I should provide more thoughtful and concrete examples to explain how fairness is addressed in my model and how bias might appear in the dataset or </a:t>
            </a:r>
            <a:r>
              <a:rPr lang="en-US" dirty="0" err="1"/>
              <a:t>predictions.We</a:t>
            </a:r>
            <a:r>
              <a:rPr lang="en-US" dirty="0"/>
              <a:t> also looked at our DAPS diagrams together. During our discussion, we shared ideas and suggestions. For example, I advised him to add more detail to the first part of his DAPS diagram to make it clearer and more informative. In return, he mentioned that I should ensure all the questions in my diagram are answered completely and in the correct order to improve the overall flow and logic. This collaborative feedback session helped both of us see our work from a new perspective and improve the quality of our submissions.</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Tree>
    <p:extLst>
      <p:ext uri="{BB962C8B-B14F-4D97-AF65-F5344CB8AC3E}">
        <p14:creationId xmlns:p14="http://schemas.microsoft.com/office/powerpoint/2010/main" val="2397875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This week, my main goals were to finish calculating the Human-Level Performance (HLP) based on my survey results and to review my existing templates to identify any missing information or areas that needed improvement. I also aimed to get final feedback on the think-aloud study I conducted for my wireframe. This was important to ensure that the user experience and navigation flow were clear and intuitive. Reviewing the feedback helped me understand what adjustments I still need to make before finalizing everything.</a:t>
            </a:r>
          </a:p>
          <a:p>
            <a:pPr marL="199390" indent="-171450"/>
            <a:r>
              <a:rPr lang="en" dirty="0"/>
              <a:t>What have you actually been able to do? </a:t>
            </a:r>
          </a:p>
          <a:p>
            <a:pPr marL="27940" indent="0">
              <a:buNone/>
            </a:pPr>
            <a:r>
              <a:rPr lang="en-US" dirty="0"/>
              <a:t>This week, I was able to gather the final feedback for my wireframe and document it as part of the evidence for the Human-Centered AI template.</a:t>
            </a:r>
          </a:p>
          <a:p>
            <a:pPr marL="199390" indent="-171450"/>
            <a:r>
              <a:rPr lang="en" dirty="0"/>
              <a:t>Showcase the evidence of your progress (production artifacts, short descriptions-links-pictures animated gifs, etc.)</a:t>
            </a:r>
          </a:p>
          <a:p>
            <a:pPr marL="27940" indent="0">
              <a:buNone/>
            </a:pPr>
            <a:endParaRPr lang="en" dirty="0"/>
          </a:p>
          <a:p>
            <a:pPr marL="27940" indent="0">
              <a:buNone/>
            </a:pPr>
            <a:r>
              <a:rPr lang="en-US" dirty="0">
                <a:hlinkClick r:id="rId3"/>
              </a:rPr>
              <a:t>Human Centered AI</a:t>
            </a:r>
            <a:endParaRPr lang="en-US" dirty="0"/>
          </a:p>
          <a:p>
            <a:pPr marL="27940" indent="0">
              <a:buNone/>
            </a:pPr>
            <a:r>
              <a:rPr lang="en-US" dirty="0"/>
              <a:t>This link provides evidence of the feedback I received from my peers, which I then refined and documented in my Human-Centered AI template.</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I was able to complete all the tasks for Week 7, and I’m really happy with my progress. I feel motivated and ready to tackle the final steps and finish this block strong next week.</a:t>
            </a:r>
          </a:p>
          <a:p>
            <a:pPr marL="27940" lvl="0" indent="0" algn="l" rtl="0">
              <a:spcBef>
                <a:spcPts val="0"/>
              </a:spcBef>
              <a:spcAft>
                <a:spcPts val="0"/>
              </a:spcAft>
              <a:buSzPts val="1000"/>
              <a:buNone/>
            </a:pPr>
            <a:r>
              <a:rPr lang="en" dirty="0"/>
              <a:t>What went well? </a:t>
            </a:r>
            <a:endParaRPr lang="en-US" dirty="0"/>
          </a:p>
          <a:p>
            <a:pPr marL="182880" lvl="0" indent="-154940" algn="l" rtl="0">
              <a:spcBef>
                <a:spcPts val="0"/>
              </a:spcBef>
              <a:spcAft>
                <a:spcPts val="0"/>
              </a:spcAft>
              <a:buSzPts val="1000"/>
              <a:buChar char="●"/>
            </a:pPr>
            <a:r>
              <a:rPr lang="en-US" dirty="0"/>
              <a:t>The feedback I received from my peers showed that my wireframe was well-designed. They liked the overall layout and mentioned that it was clear, simple, and easy to use.</a:t>
            </a:r>
          </a:p>
          <a:p>
            <a:pPr marL="182880" lvl="0" indent="-154940" algn="l" rtl="0">
              <a:spcBef>
                <a:spcPts val="0"/>
              </a:spcBef>
              <a:spcAft>
                <a:spcPts val="0"/>
              </a:spcAft>
              <a:buSzPts val="1000"/>
              <a:buChar char="●"/>
            </a:pPr>
            <a:r>
              <a:rPr lang="en" dirty="0"/>
              <a:t>What didn’t go so well? </a:t>
            </a:r>
          </a:p>
          <a:p>
            <a:pPr marL="27940" lvl="0" indent="0" algn="l" rtl="0">
              <a:spcBef>
                <a:spcPts val="0"/>
              </a:spcBef>
              <a:spcAft>
                <a:spcPts val="0"/>
              </a:spcAft>
              <a:buSzPts val="1000"/>
              <a:buNone/>
            </a:pPr>
            <a:r>
              <a:rPr lang="en-US" dirty="0"/>
              <a:t>Everything went quite well. I was able to complete most of the templates on time—there's just one left, which is the Responsible AI template, and we’re scheduled to complete that in Week 8.</a:t>
            </a:r>
          </a:p>
          <a:p>
            <a:pPr marL="199390" indent="-171450"/>
            <a:r>
              <a:rPr lang="en" dirty="0"/>
              <a:t>What did you learn? </a:t>
            </a:r>
          </a:p>
          <a:p>
            <a:pPr marL="27940" lvl="0" indent="0" algn="l" rtl="0">
              <a:spcBef>
                <a:spcPts val="0"/>
              </a:spcBef>
              <a:spcAft>
                <a:spcPts val="0"/>
              </a:spcAft>
              <a:buSzPts val="1000"/>
              <a:buNone/>
            </a:pPr>
            <a:r>
              <a:rPr lang="en-US" dirty="0"/>
              <a:t>In this block, I learned that the design phase is a very important part of creating a new app. Sometimes, what you imagine might not match what others experience or expect. That’s why it’s essential to gather feedback from others—to make sure your design choices actually work and that your assumptions are correct.</a:t>
            </a:r>
          </a:p>
          <a:p>
            <a:pPr marL="199390" indent="-171450"/>
            <a:r>
              <a:rPr lang="en" dirty="0"/>
              <a:t>What could be added as an Action point looking forward to next week?</a:t>
            </a:r>
          </a:p>
          <a:p>
            <a:pPr marL="27940" indent="0">
              <a:buNone/>
            </a:pPr>
            <a:r>
              <a:rPr lang="en-US" dirty="0"/>
              <a:t>Next week is the final week, so my goal is to review everything one day before the submission deadline. This way, I can avoid any last-minute stress and have enough time to prepare and practice for the presentation.</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p>
          <a:p>
            <a:pPr marL="27940" lvl="0" indent="0" algn="l" rtl="0">
              <a:spcBef>
                <a:spcPts val="0"/>
              </a:spcBef>
              <a:spcAft>
                <a:spcPts val="0"/>
              </a:spcAft>
              <a:buSzPts val="1000"/>
              <a:buNone/>
            </a:pPr>
            <a:r>
              <a:rPr lang="en-US" b="1" dirty="0"/>
              <a:t>The feedback I received this week was from my mentor, Avril. We reviewed everything together again, and she pointed out a few important things. First, she mentioned that the font size in my infographic was too small and needed to be increased for better readability. She also suggested changing the background color, as the current layout made it difficult for people to read the content clearly. During our review, I also realized that I had used an infographic template instead of creating it in A4 format, which was the actual requirement. Because of this, Avril advised me to double-check with another mentor to make sure I don’t lose any points due to formatting issues.</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Tree>
    <p:extLst>
      <p:ext uri="{BB962C8B-B14F-4D97-AF65-F5344CB8AC3E}">
        <p14:creationId xmlns:p14="http://schemas.microsoft.com/office/powerpoint/2010/main" val="628294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This week, as one of my final goals for this block, I want to complete my Responsible AI template as soon as possible and get feedback on it. That way, I can make any necessary improvements and upload it easily without any last-minute pressure.</a:t>
            </a:r>
          </a:p>
          <a:p>
            <a:pPr marL="199390" indent="-171450"/>
            <a:r>
              <a:rPr lang="en" dirty="0"/>
              <a:t>What have you actually been able to do? </a:t>
            </a:r>
          </a:p>
          <a:p>
            <a:pPr marL="27940" lvl="0" indent="0" algn="l" rtl="0">
              <a:spcBef>
                <a:spcPts val="0"/>
              </a:spcBef>
              <a:spcAft>
                <a:spcPts val="0"/>
              </a:spcAft>
              <a:buSzPts val="1000"/>
              <a:buNone/>
            </a:pPr>
            <a:r>
              <a:rPr lang="en-US" dirty="0"/>
              <a:t>This week, I was able to conduct my A/B test and prepare the survey. I received 35 responses for version A and 12 responses for version B, which I think is a decent outcome.</a:t>
            </a:r>
          </a:p>
          <a:p>
            <a:pPr marL="199390" indent="-171450"/>
            <a:r>
              <a:rPr lang="en" dirty="0"/>
              <a:t>Showcase the evidence of your progress (production artifacts, short descriptions-links-pictures animated gifs, etc.)</a:t>
            </a:r>
          </a:p>
          <a:p>
            <a:pPr marL="27940" lvl="0" indent="0" algn="l" rtl="0">
              <a:spcBef>
                <a:spcPts val="0"/>
              </a:spcBef>
              <a:spcAft>
                <a:spcPts val="0"/>
              </a:spcAft>
              <a:buSzPts val="1000"/>
              <a:buNone/>
            </a:pPr>
            <a:r>
              <a:rPr lang="en-US" dirty="0"/>
              <a:t>This week, as shown in the link provided, I completed my survey and included the response links. I also worked on a T-test notebook to analyze the survey data and use the results as part of the evidence in my Responsible AI template.</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hlinkClick r:id="rId3"/>
              </a:rPr>
              <a:t>Survey A</a:t>
            </a:r>
            <a:endParaRPr lang="en-US" dirty="0"/>
          </a:p>
          <a:p>
            <a:pPr marL="27940" lvl="0" indent="0" algn="l" rtl="0">
              <a:spcBef>
                <a:spcPts val="0"/>
              </a:spcBef>
              <a:spcAft>
                <a:spcPts val="0"/>
              </a:spcAft>
              <a:buSzPts val="1000"/>
              <a:buNone/>
            </a:pPr>
            <a:r>
              <a:rPr lang="en-US" dirty="0">
                <a:hlinkClick r:id="rId4"/>
              </a:rPr>
              <a:t>T-test</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although it was a bit stressful as we approached the end of the block and prepared to submit all our templates.</a:t>
            </a:r>
          </a:p>
          <a:p>
            <a:pPr marL="199390" indent="-171450"/>
            <a:r>
              <a:rPr lang="en" dirty="0"/>
              <a:t>What went well? </a:t>
            </a:r>
          </a:p>
          <a:p>
            <a:pPr marL="27940" lvl="0" indent="0" algn="l" rtl="0">
              <a:spcBef>
                <a:spcPts val="0"/>
              </a:spcBef>
              <a:spcAft>
                <a:spcPts val="0"/>
              </a:spcAft>
              <a:buSzPts val="1000"/>
              <a:buNone/>
            </a:pPr>
            <a:r>
              <a:rPr lang="en-US" dirty="0"/>
              <a:t>The A/B test survey and T-test analysis went well. I was able to complete the T-test and include the results in my Responsible AI template as part of the evidence.</a:t>
            </a:r>
          </a:p>
          <a:p>
            <a:pPr marL="199390" indent="-171450"/>
            <a:r>
              <a:rPr lang="en" dirty="0"/>
              <a:t>What didn’t go so well? </a:t>
            </a:r>
          </a:p>
          <a:p>
            <a:pPr marL="27940" lvl="0" indent="0" algn="l" rtl="0">
              <a:spcBef>
                <a:spcPts val="0"/>
              </a:spcBef>
              <a:spcAft>
                <a:spcPts val="0"/>
              </a:spcAft>
              <a:buSzPts val="1000"/>
              <a:buNone/>
            </a:pPr>
            <a:r>
              <a:rPr lang="en-US" dirty="0"/>
              <a:t>There wasn’t anything that went particularly wrong this week, but I did receive imbalanced responses in my A/B test survey—35 responses for version A and only 12 for version B.</a:t>
            </a:r>
            <a:endParaRPr dirty="0"/>
          </a:p>
          <a:p>
            <a:pPr marL="182880" lvl="0" indent="-154940" algn="l" rtl="0">
              <a:spcBef>
                <a:spcPts val="0"/>
              </a:spcBef>
              <a:spcAft>
                <a:spcPts val="0"/>
              </a:spcAft>
              <a:buSzPts val="1000"/>
              <a:buChar char="●"/>
            </a:pPr>
            <a:r>
              <a:rPr lang="en" dirty="0"/>
              <a:t>What did you learn? </a:t>
            </a:r>
          </a:p>
          <a:p>
            <a:pPr marL="27940" lvl="0" indent="0" algn="l" rtl="0">
              <a:spcBef>
                <a:spcPts val="0"/>
              </a:spcBef>
              <a:spcAft>
                <a:spcPts val="0"/>
              </a:spcAft>
              <a:buSzPts val="1000"/>
              <a:buNone/>
            </a:pPr>
            <a:r>
              <a:rPr lang="en-US" dirty="0"/>
              <a:t>This week, I learned how to perform a T-test. It reminded me of the previous block, where we had to clean the data first before applying any analysis. I really enjoyed the process, especially because it combined both data preparation and practical application.</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dirty="0"/>
              <a:t>Next week, I’ll be starting my Week 9 and 10 challenge. My goal is to complete it successfully so I can finish everything and finally relax.</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02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8</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US" dirty="0"/>
              <a:t>This week, I received feedback from Nika. I showed her the content and paragraph I plan to use for my presentation on Friday, and she really liked it. However, I struggled a bit with managing my time during the practice run. She pointed out that I need to work on pacing and practice more to ensure I stay within the time limit and present confidently. Her feedback was very helpful, and now I plan to rehearse a few more times to improve my delivery and avoid any last-minute issues during the actual presentation.</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8</a:t>
            </a:r>
            <a:endParaRPr/>
          </a:p>
        </p:txBody>
      </p:sp>
    </p:spTree>
    <p:extLst>
      <p:ext uri="{BB962C8B-B14F-4D97-AF65-F5344CB8AC3E}">
        <p14:creationId xmlns:p14="http://schemas.microsoft.com/office/powerpoint/2010/main" val="3657977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C</a:t>
            </a:r>
            <a:endParaRPr sz="600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1.3</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Professional Practice</a:t>
            </a:r>
            <a:endParaRPr dirty="0"/>
          </a:p>
        </p:txBody>
      </p:sp>
      <p:sp>
        <p:nvSpPr>
          <p:cNvPr id="365" name="Google Shape;365;p39"/>
          <p:cNvSpPr txBox="1">
            <a:spLocks noGrp="1"/>
          </p:cNvSpPr>
          <p:nvPr>
            <p:ph type="subTitle" idx="2"/>
          </p:nvPr>
        </p:nvSpPr>
        <p:spPr>
          <a:xfrm>
            <a:off x="2735580" y="3353563"/>
            <a:ext cx="5951220" cy="685800"/>
          </a:xfrm>
          <a:prstGeom prst="rect">
            <a:avLst/>
          </a:prstGeom>
        </p:spPr>
        <p:txBody>
          <a:bodyPr spcFirstLastPara="1" wrap="square" lIns="91425" tIns="91425" rIns="91425" bIns="91425" anchor="ctr" anchorCtr="0">
            <a:noAutofit/>
          </a:bodyPr>
          <a:lstStyle/>
          <a:p>
            <a:pPr marL="0" indent="0"/>
            <a:r>
              <a:rPr lang="en-US" dirty="0"/>
              <a:t> 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1</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811038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1</a:t>
            </a:r>
            <a:endParaRPr dirty="0"/>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337619" cy="576000"/>
          </a:xfrm>
          <a:prstGeom prst="rect">
            <a:avLst/>
          </a:prstGeom>
        </p:spPr>
        <p:txBody>
          <a:bodyPr spcFirstLastPara="1" wrap="square" lIns="91425" tIns="91425" rIns="91425" bIns="91425" anchor="ctr" anchorCtr="0">
            <a:noAutofit/>
          </a:bodyPr>
          <a:lstStyle/>
          <a:p>
            <a:pPr marL="0" indent="0"/>
            <a:r>
              <a:rPr lang="en-US"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sz="700" dirty="0"/>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1.3</a:t>
            </a:r>
            <a:endParaRPr dirty="0"/>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demonstrates the ability to prepare for and contribute to professional events by reviewing materials, completing preparation tasks, and leading collaborative discussions to address personal and professional challenges.</a:t>
            </a:r>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Professional Practice</a:t>
            </a:r>
            <a:endParaRPr sz="900" dirty="0"/>
          </a:p>
        </p:txBody>
      </p:sp>
      <p:graphicFrame>
        <p:nvGraphicFramePr>
          <p:cNvPr id="3" name="Table 2">
            <a:extLst>
              <a:ext uri="{FF2B5EF4-FFF2-40B4-BE49-F238E27FC236}">
                <a16:creationId xmlns:a16="http://schemas.microsoft.com/office/drawing/2014/main" id="{5A5D76DD-780A-47E4-7E54-A7A840FD7EAC}"/>
              </a:ext>
            </a:extLst>
          </p:cNvPr>
          <p:cNvGraphicFramePr>
            <a:graphicFrameLocks noGrp="1"/>
          </p:cNvGraphicFramePr>
          <p:nvPr>
            <p:extLst>
              <p:ext uri="{D42A27DB-BD31-4B8C-83A1-F6EECF244321}">
                <p14:modId xmlns:p14="http://schemas.microsoft.com/office/powerpoint/2010/main" val="2569587530"/>
              </p:ext>
            </p:extLst>
          </p:nvPr>
        </p:nvGraphicFramePr>
        <p:xfrm>
          <a:off x="0" y="1069800"/>
          <a:ext cx="9144000" cy="4073700"/>
        </p:xfrm>
        <a:graphic>
          <a:graphicData uri="http://schemas.openxmlformats.org/drawingml/2006/table">
            <a:tbl>
              <a:tblPr/>
              <a:tblGrid>
                <a:gridCol w="2279135">
                  <a:extLst>
                    <a:ext uri="{9D8B030D-6E8A-4147-A177-3AD203B41FA5}">
                      <a16:colId xmlns:a16="http://schemas.microsoft.com/office/drawing/2014/main" val="2828626719"/>
                    </a:ext>
                  </a:extLst>
                </a:gridCol>
                <a:gridCol w="2251677">
                  <a:extLst>
                    <a:ext uri="{9D8B030D-6E8A-4147-A177-3AD203B41FA5}">
                      <a16:colId xmlns:a16="http://schemas.microsoft.com/office/drawing/2014/main" val="2163814410"/>
                    </a:ext>
                  </a:extLst>
                </a:gridCol>
                <a:gridCol w="2334053">
                  <a:extLst>
                    <a:ext uri="{9D8B030D-6E8A-4147-A177-3AD203B41FA5}">
                      <a16:colId xmlns:a16="http://schemas.microsoft.com/office/drawing/2014/main" val="1982883818"/>
                    </a:ext>
                  </a:extLst>
                </a:gridCol>
                <a:gridCol w="2279135">
                  <a:extLst>
                    <a:ext uri="{9D8B030D-6E8A-4147-A177-3AD203B41FA5}">
                      <a16:colId xmlns:a16="http://schemas.microsoft.com/office/drawing/2014/main" val="288988014"/>
                    </a:ext>
                  </a:extLst>
                </a:gridCol>
              </a:tblGrid>
              <a:tr h="125231">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(2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139392">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behaviour during DataLab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prepare effectively for DataLab sessions by adequately completing the assigned preparation tasks before the corresponding session.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active participation in stand-up sessions by attending consistently, providing clear and thoughtful responses to stand-up questions, and engaging constructively in discussions.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lead stand-up sessions by effectively addressing assigned topics, guiding discussions, encouraging peer contributions, and maintaining an organized and engaging session.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723970">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Based on the link I have provided, you can review both my work log and learning log, which are complete and demonstrate that I have met the required outcomes of this Intended Learning Outcome (ILO).</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Based on the data lab attendance records, I was present for the majority of sessions and successfully completed all assigned tasks.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attendance records show that I participated in most data lab sessions and actively engaged during them.</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Due to illness, I had to postpone my role as Data Lab stand-up leader to the final session. However, during that session, the two groups were merged due to Shival’s absence, which meant I was unable to lead the stand-up as planned. Despite this, I have completed the required form and actively participated in the stand-up sessions throughout the project. Therefore, I believe I have met the expectations of this ILO</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843461618"/>
                  </a:ext>
                </a:extLst>
              </a:tr>
              <a:tr h="1085107">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3" action="ppaction://hlinksldjump"/>
                        </a:rPr>
                        <a:t>Learning Log</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2837328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2.3</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Personal Development &amp; </a:t>
            </a:r>
            <a:br>
              <a:rPr lang="en-US" dirty="0"/>
            </a:br>
            <a:r>
              <a:rPr lang="en-US" dirty="0"/>
              <a:t>Academic Practice</a:t>
            </a:r>
            <a:endParaRPr dirty="0"/>
          </a:p>
        </p:txBody>
      </p:sp>
      <p:sp>
        <p:nvSpPr>
          <p:cNvPr id="365" name="Google Shape;365;p39"/>
          <p:cNvSpPr txBox="1">
            <a:spLocks noGrp="1"/>
          </p:cNvSpPr>
          <p:nvPr>
            <p:ph type="subTitle" idx="2"/>
          </p:nvPr>
        </p:nvSpPr>
        <p:spPr>
          <a:xfrm>
            <a:off x="2827020" y="3353563"/>
            <a:ext cx="5859780" cy="685800"/>
          </a:xfrm>
          <a:prstGeom prst="rect">
            <a:avLst/>
          </a:prstGeom>
        </p:spPr>
        <p:txBody>
          <a:bodyPr spcFirstLastPara="1" wrap="square" lIns="91425" tIns="91425" rIns="91425" bIns="91425" anchor="ctr" anchorCtr="0">
            <a:noAutofit/>
          </a:bodyPr>
          <a:lstStyle/>
          <a:p>
            <a:pPr marL="0" indent="0"/>
            <a:r>
              <a:rPr lang="en-US" dirty="0"/>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2</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393416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9CE72DEE-ACDD-0C85-A8D2-643C068A4636}"/>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30565293-DD45-04B5-46F4-3EC914E32618}"/>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2</a:t>
            </a:r>
            <a:endParaRPr dirty="0"/>
          </a:p>
        </p:txBody>
      </p:sp>
      <p:sp>
        <p:nvSpPr>
          <p:cNvPr id="394" name="Google Shape;394;p42">
            <a:extLst>
              <a:ext uri="{FF2B5EF4-FFF2-40B4-BE49-F238E27FC236}">
                <a16:creationId xmlns:a16="http://schemas.microsoft.com/office/drawing/2014/main" id="{25D891EF-5A1E-C425-76F9-5C8953547942}"/>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8DB09334-A441-88DF-84D4-24B84E847968}"/>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F4E448EF-D30C-A5A0-881C-03C246914F08}"/>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a:t>
            </a:r>
            <a:endParaRPr lang="en-GB" sz="800" dirty="0"/>
          </a:p>
        </p:txBody>
      </p:sp>
      <p:sp>
        <p:nvSpPr>
          <p:cNvPr id="397" name="Google Shape;397;p42">
            <a:extLst>
              <a:ext uri="{FF2B5EF4-FFF2-40B4-BE49-F238E27FC236}">
                <a16:creationId xmlns:a16="http://schemas.microsoft.com/office/drawing/2014/main" id="{344FFF12-19A5-F798-C5AD-07F9563B92F9}"/>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2.3</a:t>
            </a:r>
            <a:endParaRPr dirty="0"/>
          </a:p>
        </p:txBody>
      </p:sp>
      <p:sp>
        <p:nvSpPr>
          <p:cNvPr id="398" name="Google Shape;398;p42">
            <a:extLst>
              <a:ext uri="{FF2B5EF4-FFF2-40B4-BE49-F238E27FC236}">
                <a16:creationId xmlns:a16="http://schemas.microsoft.com/office/drawing/2014/main" id="{D37F1B2C-4D58-EFC9-5A96-6D1E6198474D}"/>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actively participates in the public speaking workshop and delivers a clear, well-structured presentation with confidence, clarity, and effective nonverbal communication.</a:t>
            </a:r>
          </a:p>
        </p:txBody>
      </p:sp>
      <p:sp>
        <p:nvSpPr>
          <p:cNvPr id="399" name="Google Shape;399;p42">
            <a:extLst>
              <a:ext uri="{FF2B5EF4-FFF2-40B4-BE49-F238E27FC236}">
                <a16:creationId xmlns:a16="http://schemas.microsoft.com/office/drawing/2014/main" id="{5EB9183E-C59F-08D5-4F74-998CB44A117F}"/>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Personal Development &amp; Academic Practice</a:t>
            </a:r>
          </a:p>
        </p:txBody>
      </p:sp>
      <p:graphicFrame>
        <p:nvGraphicFramePr>
          <p:cNvPr id="3" name="Table 2">
            <a:extLst>
              <a:ext uri="{FF2B5EF4-FFF2-40B4-BE49-F238E27FC236}">
                <a16:creationId xmlns:a16="http://schemas.microsoft.com/office/drawing/2014/main" id="{B5EF6693-A04C-E6B4-67FA-A68FDE74C63E}"/>
              </a:ext>
            </a:extLst>
          </p:cNvPr>
          <p:cNvGraphicFramePr>
            <a:graphicFrameLocks noGrp="1"/>
          </p:cNvGraphicFramePr>
          <p:nvPr>
            <p:extLst>
              <p:ext uri="{D42A27DB-BD31-4B8C-83A1-F6EECF244321}">
                <p14:modId xmlns:p14="http://schemas.microsoft.com/office/powerpoint/2010/main" val="3450372919"/>
              </p:ext>
            </p:extLst>
          </p:nvPr>
        </p:nvGraphicFramePr>
        <p:xfrm>
          <a:off x="0" y="1069800"/>
          <a:ext cx="9144001" cy="4073701"/>
        </p:xfrm>
        <a:graphic>
          <a:graphicData uri="http://schemas.openxmlformats.org/drawingml/2006/table">
            <a:tbl>
              <a:tblPr/>
              <a:tblGrid>
                <a:gridCol w="3035808">
                  <a:extLst>
                    <a:ext uri="{9D8B030D-6E8A-4147-A177-3AD203B41FA5}">
                      <a16:colId xmlns:a16="http://schemas.microsoft.com/office/drawing/2014/main" val="2828626719"/>
                    </a:ext>
                  </a:extLst>
                </a:gridCol>
                <a:gridCol w="2999234">
                  <a:extLst>
                    <a:ext uri="{9D8B030D-6E8A-4147-A177-3AD203B41FA5}">
                      <a16:colId xmlns:a16="http://schemas.microsoft.com/office/drawing/2014/main" val="2163814410"/>
                    </a:ext>
                  </a:extLst>
                </a:gridCol>
                <a:gridCol w="3108959">
                  <a:extLst>
                    <a:ext uri="{9D8B030D-6E8A-4147-A177-3AD203B41FA5}">
                      <a16:colId xmlns:a16="http://schemas.microsoft.com/office/drawing/2014/main" val="1982883818"/>
                    </a:ext>
                  </a:extLst>
                </a:gridCol>
              </a:tblGrid>
              <a:tr h="131312">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137637">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sessions. The student actively participates in the public speaking workshop. The student presents the results of the project in the final presentation.</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conveys ideas in a presentation with clarity and enthusiasm, demonstrating confidence through articulate speech and purposeful nonverbal communication.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delivers a presentation with a clear introduction, logically ordered content, and a concise conclusion, using slides with appropriately sized text, minimal but informative text, properly resolved images, and well-formatted plots.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721316">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As recorded, I attended all Data Lab sessions and actively participated throughout. During my presentation, I was able to clearly demonstrate and explain my output and the accuracy I achieved. I believe I performed well, as some of my peers showed genuine interest in my work.</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baseline="0" noProof="0"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effectLst/>
                          <a:latin typeface="Roboto" panose="02000000000000000000" pitchFamily="2" charset="0"/>
                          <a:ea typeface="Roboto" panose="02000000000000000000" pitchFamily="2" charset="0"/>
                          <a:cs typeface="Roboto" panose="02000000000000000000" pitchFamily="2" charset="0"/>
                        </a:rPr>
                        <a:t>This is the certificate for the 'Managing Your Anxiety During Presentations' course, which I completed independently, as I was absent on the scheduled day. However, I did fill out the required form to ensure my participation was recorded.</a:t>
                      </a:r>
                      <a:endParaRPr lang="en-US" sz="900" b="0" i="0" u="none" strike="noStrike" baseline="0" noProof="0"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 the presentation, I did my best to clearly communicate my work. As recorded, I began by introducing the business context and then proceeded to explain the technical aspects and the models I used.</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 my presentation, I covered all key aspects, beginning with the business context to capture interest. I then explained and visualized my output to support and convince the audience. Additionally, I walked through the entire process—from data preprocessing to the final results.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1083436">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3" action="ppaction://hlinksldjump"/>
                        </a:rPr>
                        <a:t>Learning Log</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6"/>
                        </a:rPr>
                        <a:t>Certificate </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7"/>
                        </a:rPr>
                        <a:t>Presentation Slides</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2152785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3.2</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Ethical and Legal Responsibility</a:t>
            </a:r>
            <a:endParaRPr dirty="0"/>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is aware of legal and ethical aspects within the context of their professional work environment and is able to make substantiated considerations in this regard. They act with justice and integrity.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3</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625421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0F6C40D3-00C1-F516-6757-8B22ED8E51E9}"/>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E9FEC19C-A73C-B7A4-1DD7-706A7360F767}"/>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3</a:t>
            </a:r>
            <a:endParaRPr dirty="0"/>
          </a:p>
        </p:txBody>
      </p:sp>
      <p:sp>
        <p:nvSpPr>
          <p:cNvPr id="394" name="Google Shape;394;p42">
            <a:extLst>
              <a:ext uri="{FF2B5EF4-FFF2-40B4-BE49-F238E27FC236}">
                <a16:creationId xmlns:a16="http://schemas.microsoft.com/office/drawing/2014/main" id="{18FF880B-44BE-0A3C-A2C9-54A0FC136C2D}"/>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1479B178-F412-8780-4475-195A6900E360}"/>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2DD6BCC8-621F-B12B-06C1-B22802C69883}"/>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is aware of legal and ethical aspects within the context of their professional work environment and is able to make substantiated considerations in this regard. They act with justice and integrity. </a:t>
            </a:r>
          </a:p>
        </p:txBody>
      </p:sp>
      <p:sp>
        <p:nvSpPr>
          <p:cNvPr id="397" name="Google Shape;397;p42">
            <a:extLst>
              <a:ext uri="{FF2B5EF4-FFF2-40B4-BE49-F238E27FC236}">
                <a16:creationId xmlns:a16="http://schemas.microsoft.com/office/drawing/2014/main" id="{8F0B9C1C-4802-62FD-5718-F0875AD002A0}"/>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3.2</a:t>
            </a:r>
            <a:endParaRPr dirty="0"/>
          </a:p>
        </p:txBody>
      </p:sp>
      <p:sp>
        <p:nvSpPr>
          <p:cNvPr id="398" name="Google Shape;398;p42">
            <a:extLst>
              <a:ext uri="{FF2B5EF4-FFF2-40B4-BE49-F238E27FC236}">
                <a16:creationId xmlns:a16="http://schemas.microsoft.com/office/drawing/2014/main" id="{51F4780C-6FA2-86A0-105D-F0AB4D8D2232}"/>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is able to identify and describe the limitations of a deep learning-based AI algorithm in terms of bias, fairness, transparency, and interpretability, and subsequently apply methods that address these limitations. Furthermore, they prepare for and actively engage in discussions on these topics, showcasing their understanding and ability to critically evaluate the ethical implications.</a:t>
            </a:r>
          </a:p>
        </p:txBody>
      </p:sp>
      <p:sp>
        <p:nvSpPr>
          <p:cNvPr id="399" name="Google Shape;399;p42">
            <a:extLst>
              <a:ext uri="{FF2B5EF4-FFF2-40B4-BE49-F238E27FC236}">
                <a16:creationId xmlns:a16="http://schemas.microsoft.com/office/drawing/2014/main" id="{1BE698AF-0B42-B1DB-E141-A0A13AB927E2}"/>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Ethical and Legal Responsibility</a:t>
            </a:r>
          </a:p>
        </p:txBody>
      </p:sp>
      <p:graphicFrame>
        <p:nvGraphicFramePr>
          <p:cNvPr id="3" name="Table 2">
            <a:extLst>
              <a:ext uri="{FF2B5EF4-FFF2-40B4-BE49-F238E27FC236}">
                <a16:creationId xmlns:a16="http://schemas.microsoft.com/office/drawing/2014/main" id="{4AAD9096-E78B-5157-CF69-0E924889F3A0}"/>
              </a:ext>
            </a:extLst>
          </p:cNvPr>
          <p:cNvGraphicFramePr>
            <a:graphicFrameLocks noGrp="1"/>
          </p:cNvGraphicFramePr>
          <p:nvPr>
            <p:extLst>
              <p:ext uri="{D42A27DB-BD31-4B8C-83A1-F6EECF244321}">
                <p14:modId xmlns:p14="http://schemas.microsoft.com/office/powerpoint/2010/main" val="1673824097"/>
              </p:ext>
            </p:extLst>
          </p:nvPr>
        </p:nvGraphicFramePr>
        <p:xfrm>
          <a:off x="0" y="1069801"/>
          <a:ext cx="9144001" cy="4418925"/>
        </p:xfrm>
        <a:graphic>
          <a:graphicData uri="http://schemas.openxmlformats.org/drawingml/2006/table">
            <a:tbl>
              <a:tblPr/>
              <a:tblGrid>
                <a:gridCol w="1807029">
                  <a:extLst>
                    <a:ext uri="{9D8B030D-6E8A-4147-A177-3AD203B41FA5}">
                      <a16:colId xmlns:a16="http://schemas.microsoft.com/office/drawing/2014/main" val="2828626719"/>
                    </a:ext>
                  </a:extLst>
                </a:gridCol>
                <a:gridCol w="1785259">
                  <a:extLst>
                    <a:ext uri="{9D8B030D-6E8A-4147-A177-3AD203B41FA5}">
                      <a16:colId xmlns:a16="http://schemas.microsoft.com/office/drawing/2014/main" val="2163814410"/>
                    </a:ext>
                  </a:extLst>
                </a:gridCol>
                <a:gridCol w="1850571">
                  <a:extLst>
                    <a:ext uri="{9D8B030D-6E8A-4147-A177-3AD203B41FA5}">
                      <a16:colId xmlns:a16="http://schemas.microsoft.com/office/drawing/2014/main" val="1982883818"/>
                    </a:ext>
                  </a:extLst>
                </a:gridCol>
                <a:gridCol w="1850571">
                  <a:extLst>
                    <a:ext uri="{9D8B030D-6E8A-4147-A177-3AD203B41FA5}">
                      <a16:colId xmlns:a16="http://schemas.microsoft.com/office/drawing/2014/main" val="1684357677"/>
                    </a:ext>
                  </a:extLst>
                </a:gridCol>
                <a:gridCol w="1850571">
                  <a:extLst>
                    <a:ext uri="{9D8B030D-6E8A-4147-A177-3AD203B41FA5}">
                      <a16:colId xmlns:a16="http://schemas.microsoft.com/office/drawing/2014/main" val="487796406"/>
                    </a:ext>
                  </a:extLst>
                </a:gridCol>
              </a:tblGrid>
              <a:tr h="126600">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D (5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851520">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constructs well-reasoned arguments for ethical positions, defends those arguments with evidence and logic, and critically engages with opposing viewpoints in order to formulate their final position.</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identifies and describes an instance of bias in an image dataset and analyzes the potential representational harm it could cause to individuals or groups. The student proposes an individual fairness method to address the identified bias, explaining its effectiveness in the chosen use case.</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provides a clear explanation of the concept of group fairness, supports it with appropriate evaluation metrics, and demonstrates its practical application through one or more relevant use cases.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correctly applies an explainable AI method to enhance the transparency or interpretability of a deep learning model trained on their created image dataset. The student demonstrates a foundational understanding of the method by clearly articulating its purpose, implementation, and the insights it provides for evaluating the model's performance, understanding its behavior, and interpreting its outputs.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300693">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Based on the records and the links provided, you can see that I have completed the work log, learning log, and the self-assessment rubric.</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Additionally, I actively participated in the Data Lab sessions, demonstrated a positive attitude, and consistently showed respect toward my peers and the learning environment.</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meet the criteria for this ILO, as I thoroughly prepared for the Socratic dialogue and completed all five phases. During the discussion, I actively contributed to the arguments, and by the end, we respectfully explored the reasons behind our differing viewpoints. I also genuinely enjoyed the experience.</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meet this criterion because I provided a comprehensive explanation of my project, starting from the dataset to ensure a full understanding of all aspects. I also clearly explained my work in Task 2.2 and 2.3 on Responsible AI, as well as in the infographic I uploaded.</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meet this criterion because I provided relevant examples in both my Responsible AI Template (Task 2.3) and my infographic. What made my work particularly effective is that I applied all of these elements directly to my own project and dataset, allowing me to explore each aspect of the project in a meaningful and thoughtful way.</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am confident that I meet this criterion, as I performed well in the Responsible AI task by applying it to a diverse set of randomly selected images. I also created a new environment to support this work and explained my approach clearly during my presentation, which demonstrates a strong understanding of the topic.</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794885">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3" action="ppaction://hlinksldjump"/>
                        </a:rPr>
                        <a:t>Learning Log</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No additional evidence is required for this criterion.</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Responsible AI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hlinkClick r:id="rId6"/>
                        </a:rPr>
                        <a:t>Responsible AI Template</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Responsible AI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74985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4.1</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Problem Analysis</a:t>
            </a:r>
            <a:endParaRPr dirty="0"/>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can analyze a problem by describing the context, trade-offs and formulation of the final demand (as a result of a process of demand articulation). In doing so, they identify the possible solutions. As a result, they can formulate an approach for a data trajectory considering relevant actors and interests, involving relevant theories and (technical) possibilities.</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4</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933909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758F8CD0-7A1B-8C11-0DD1-4E9E6B82BD9B}"/>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A8A500FB-F04C-FD50-68B8-ECE93106EA74}"/>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4</a:t>
            </a:r>
            <a:endParaRPr dirty="0"/>
          </a:p>
        </p:txBody>
      </p:sp>
      <p:sp>
        <p:nvSpPr>
          <p:cNvPr id="394" name="Google Shape;394;p42">
            <a:extLst>
              <a:ext uri="{FF2B5EF4-FFF2-40B4-BE49-F238E27FC236}">
                <a16:creationId xmlns:a16="http://schemas.microsoft.com/office/drawing/2014/main" id="{92915741-D2BE-D734-B4AC-99A4AF938A1A}"/>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dirty="0"/>
              <a:t>1</a:t>
            </a:r>
            <a:r>
              <a:rPr lang="en" dirty="0"/>
              <a:t>/</a:t>
            </a:r>
            <a:r>
              <a:rPr lang="en-NL" dirty="0"/>
              <a:t>1</a:t>
            </a:r>
            <a:endParaRPr dirty="0"/>
          </a:p>
        </p:txBody>
      </p:sp>
      <p:sp>
        <p:nvSpPr>
          <p:cNvPr id="395" name="Google Shape;395;p42">
            <a:extLst>
              <a:ext uri="{FF2B5EF4-FFF2-40B4-BE49-F238E27FC236}">
                <a16:creationId xmlns:a16="http://schemas.microsoft.com/office/drawing/2014/main" id="{B90BC8B0-1CB5-BE85-ADD6-4CA1CD84FAA3}"/>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BF40A512-4857-1247-DDE5-EA11625A73AA}"/>
              </a:ext>
            </a:extLst>
          </p:cNvPr>
          <p:cNvSpPr txBox="1">
            <a:spLocks noGrp="1"/>
          </p:cNvSpPr>
          <p:nvPr>
            <p:ph type="title" idx="3"/>
          </p:nvPr>
        </p:nvSpPr>
        <p:spPr>
          <a:xfrm>
            <a:off x="2049461" y="0"/>
            <a:ext cx="6307139" cy="576000"/>
          </a:xfrm>
          <a:prstGeom prst="rect">
            <a:avLst/>
          </a:prstGeom>
        </p:spPr>
        <p:txBody>
          <a:bodyPr spcFirstLastPara="1" wrap="square" lIns="91425" tIns="91425" rIns="91425" bIns="91425" anchor="ctr" anchorCtr="0">
            <a:noAutofit/>
          </a:bodyPr>
          <a:lstStyle/>
          <a:p>
            <a:pPr marL="0" indent="0"/>
            <a:r>
              <a:rPr lang="en-US" dirty="0"/>
              <a:t>The student can analyze a problem by describing the context, trade-offs and formulation of the final demand (as a result of a process of demand articulation). In doing so, they identify the possible solutions. As a result, they can formulate an approach for a data trajectory considering relevant actors and interests, involving relevant theories and (technical) possibilities </a:t>
            </a:r>
          </a:p>
        </p:txBody>
      </p:sp>
      <p:sp>
        <p:nvSpPr>
          <p:cNvPr id="397" name="Google Shape;397;p42">
            <a:extLst>
              <a:ext uri="{FF2B5EF4-FFF2-40B4-BE49-F238E27FC236}">
                <a16:creationId xmlns:a16="http://schemas.microsoft.com/office/drawing/2014/main" id="{080E2A19-1943-80E2-0163-334841DA4D34}"/>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4.1</a:t>
            </a:r>
            <a:endParaRPr dirty="0"/>
          </a:p>
        </p:txBody>
      </p:sp>
      <p:sp>
        <p:nvSpPr>
          <p:cNvPr id="398" name="Google Shape;398;p42">
            <a:extLst>
              <a:ext uri="{FF2B5EF4-FFF2-40B4-BE49-F238E27FC236}">
                <a16:creationId xmlns:a16="http://schemas.microsoft.com/office/drawing/2014/main" id="{59EC8470-B970-C9FF-E19A-5A8DB34C929D}"/>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is able to identify a data analytics problem and generate an idea for an AI application that addresses the problem, delivering value to an organization or industry and its customers.</a:t>
            </a:r>
          </a:p>
        </p:txBody>
      </p:sp>
      <p:sp>
        <p:nvSpPr>
          <p:cNvPr id="399" name="Google Shape;399;p42">
            <a:extLst>
              <a:ext uri="{FF2B5EF4-FFF2-40B4-BE49-F238E27FC236}">
                <a16:creationId xmlns:a16="http://schemas.microsoft.com/office/drawing/2014/main" id="{1DFE91B3-B679-5030-98D7-D3403F9E7F50}"/>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Problem Analysis</a:t>
            </a:r>
          </a:p>
        </p:txBody>
      </p:sp>
      <p:graphicFrame>
        <p:nvGraphicFramePr>
          <p:cNvPr id="3" name="Table 2">
            <a:extLst>
              <a:ext uri="{FF2B5EF4-FFF2-40B4-BE49-F238E27FC236}">
                <a16:creationId xmlns:a16="http://schemas.microsoft.com/office/drawing/2014/main" id="{62A0A659-A047-66E1-6338-95DDA2FC752F}"/>
              </a:ext>
            </a:extLst>
          </p:cNvPr>
          <p:cNvGraphicFramePr>
            <a:graphicFrameLocks noGrp="1"/>
          </p:cNvGraphicFramePr>
          <p:nvPr>
            <p:extLst>
              <p:ext uri="{D42A27DB-BD31-4B8C-83A1-F6EECF244321}">
                <p14:modId xmlns:p14="http://schemas.microsoft.com/office/powerpoint/2010/main" val="2939105277"/>
              </p:ext>
            </p:extLst>
          </p:nvPr>
        </p:nvGraphicFramePr>
        <p:xfrm>
          <a:off x="0" y="1069801"/>
          <a:ext cx="9143999" cy="4073698"/>
        </p:xfrm>
        <a:graphic>
          <a:graphicData uri="http://schemas.openxmlformats.org/drawingml/2006/table">
            <a:tbl>
              <a:tblPr/>
              <a:tblGrid>
                <a:gridCol w="2265528">
                  <a:extLst>
                    <a:ext uri="{9D8B030D-6E8A-4147-A177-3AD203B41FA5}">
                      <a16:colId xmlns:a16="http://schemas.microsoft.com/office/drawing/2014/main" val="2828626719"/>
                    </a:ext>
                  </a:extLst>
                </a:gridCol>
                <a:gridCol w="2238235">
                  <a:extLst>
                    <a:ext uri="{9D8B030D-6E8A-4147-A177-3AD203B41FA5}">
                      <a16:colId xmlns:a16="http://schemas.microsoft.com/office/drawing/2014/main" val="2163814410"/>
                    </a:ext>
                  </a:extLst>
                </a:gridCol>
                <a:gridCol w="2320118">
                  <a:extLst>
                    <a:ext uri="{9D8B030D-6E8A-4147-A177-3AD203B41FA5}">
                      <a16:colId xmlns:a16="http://schemas.microsoft.com/office/drawing/2014/main" val="1982883818"/>
                    </a:ext>
                  </a:extLst>
                </a:gridCol>
                <a:gridCol w="2320118">
                  <a:extLst>
                    <a:ext uri="{9D8B030D-6E8A-4147-A177-3AD203B41FA5}">
                      <a16:colId xmlns:a16="http://schemas.microsoft.com/office/drawing/2014/main" val="1684357677"/>
                    </a:ext>
                  </a:extLst>
                </a:gridCol>
              </a:tblGrid>
              <a:tr h="126600">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851520">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conducts market research for product development supported by statistical data and justifications, resulting in a clear problem definition within a specific industry or organization. The student identifies and analyzes the key stakeholder groups and determines the main stakeholder by prioritizing them. The student explains the main stakeholder's needs, priorities and expectations, and links them to the identified problem in the industry or organization, highlighting their role in solving the problem.</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appropriately applies a problem-structuring framework to a project to ensure its relevance to technical, organizational, and/or industry goals.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create an idea for an application that aligns with the data analytics problem, addresses stakeholder needs, and contributes to solving the problem within a specific industry or organization. The student can provide enough evidence to defend the business value of the proposed idea.</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300693">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Based on the records and the links provided, you can see that I have completed the work log, learning log, and the self-assessment rubric.</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Additionally, I actively participated in the Data Lab sessions, demonstrated a positive attitude, and consistently showed respect toward my peers and the learning environment.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meet this criterion as well, since I incorporated statistical data into my business understanding and created a table outlining all stakeholders, organized by their level of power and interest.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a:t>
                      </a:r>
                      <a:r>
                        <a:rPr lang="en-US" sz="9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I</a:t>
                      </a:r>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actively applied for this and, based on the research I conducted, I identified gaps and existing challenges within the industry. From there, I developed a strategic path aimed at contributing to the achievement of the industry's goals.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idea I developed appears to be unique, as I couldn’t find any existing solution exactly like it. It has the potential to support the industry by increasing revenue—offering valuable insights and enabling the creation of personalized packages, similar to how platforms like Spotify or YouTube Music tailor content based on user preferences.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843461618"/>
                  </a:ext>
                </a:extLst>
              </a:tr>
              <a:tr h="794885">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3" action="ppaction://hlinksldjump"/>
                        </a:rPr>
                        <a:t>Learning Log</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5"/>
                        </a:rPr>
                        <a:t>to Self-assessment Rubric</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Business Understanding Template</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Business Understanding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Business Understanding Template</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50422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6.2</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Data Collection and Processing</a:t>
            </a:r>
            <a:endParaRPr dirty="0"/>
          </a:p>
        </p:txBody>
      </p:sp>
      <p:sp>
        <p:nvSpPr>
          <p:cNvPr id="365" name="Google Shape;365;p39"/>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p>
            <a:pPr marL="0" indent="0"/>
            <a:r>
              <a:rPr lang="en-US" dirty="0"/>
              <a:t>The student masters (technological) skills to acquire, pre-process, process and manage the necessary data to create value for individuals, organizations and domains. </a:t>
            </a:r>
            <a:endParaRPr lang="en" dirty="0"/>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6</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3932270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98657618-E683-4A1C-92F7-4F666B62088E}"/>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F1D6BB08-DA49-E9DF-7DB5-55C6ED59F71D}"/>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6</a:t>
            </a:r>
            <a:endParaRPr dirty="0"/>
          </a:p>
        </p:txBody>
      </p:sp>
      <p:sp>
        <p:nvSpPr>
          <p:cNvPr id="394" name="Google Shape;394;p42">
            <a:extLst>
              <a:ext uri="{FF2B5EF4-FFF2-40B4-BE49-F238E27FC236}">
                <a16:creationId xmlns:a16="http://schemas.microsoft.com/office/drawing/2014/main" id="{1F9A1DE9-8569-AD20-CE7C-128EC5C7CC26}"/>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AD7126E4-D2F3-D43C-A005-F0CDE4EBE6D9}"/>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DB870D58-93B6-A4C8-BFB7-C526A601B163}"/>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masters (technological) skills to acquire, pre-process, process and manage the necessary data to create value for individuals, organizations and domains. </a:t>
            </a:r>
            <a:endParaRPr lang="en-GB" sz="800" dirty="0"/>
          </a:p>
        </p:txBody>
      </p:sp>
      <p:sp>
        <p:nvSpPr>
          <p:cNvPr id="397" name="Google Shape;397;p42">
            <a:extLst>
              <a:ext uri="{FF2B5EF4-FFF2-40B4-BE49-F238E27FC236}">
                <a16:creationId xmlns:a16="http://schemas.microsoft.com/office/drawing/2014/main" id="{8BCA2A5F-6F97-B944-4368-C071A543AA26}"/>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6.2</a:t>
            </a:r>
            <a:endParaRPr dirty="0"/>
          </a:p>
        </p:txBody>
      </p:sp>
      <p:sp>
        <p:nvSpPr>
          <p:cNvPr id="398" name="Google Shape;398;p42">
            <a:extLst>
              <a:ext uri="{FF2B5EF4-FFF2-40B4-BE49-F238E27FC236}">
                <a16:creationId xmlns:a16="http://schemas.microsoft.com/office/drawing/2014/main" id="{B0B48901-EBED-9E48-B54B-86EE66702864}"/>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demonstrates the ability to create an image dataset for deep learning by collecting and pre-processing relevant data aligned with the business goals of the project.</a:t>
            </a:r>
          </a:p>
        </p:txBody>
      </p:sp>
      <p:sp>
        <p:nvSpPr>
          <p:cNvPr id="399" name="Google Shape;399;p42">
            <a:extLst>
              <a:ext uri="{FF2B5EF4-FFF2-40B4-BE49-F238E27FC236}">
                <a16:creationId xmlns:a16="http://schemas.microsoft.com/office/drawing/2014/main" id="{29E676CF-054C-6EC9-19F7-BA5FC1177052}"/>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Data Collection and Processing</a:t>
            </a:r>
          </a:p>
        </p:txBody>
      </p:sp>
      <p:graphicFrame>
        <p:nvGraphicFramePr>
          <p:cNvPr id="3" name="Table 2">
            <a:extLst>
              <a:ext uri="{FF2B5EF4-FFF2-40B4-BE49-F238E27FC236}">
                <a16:creationId xmlns:a16="http://schemas.microsoft.com/office/drawing/2014/main" id="{3F468D94-0AF9-6AF8-5905-0D17DF5B59B9}"/>
              </a:ext>
            </a:extLst>
          </p:cNvPr>
          <p:cNvGraphicFramePr>
            <a:graphicFrameLocks noGrp="1"/>
          </p:cNvGraphicFramePr>
          <p:nvPr>
            <p:extLst>
              <p:ext uri="{D42A27DB-BD31-4B8C-83A1-F6EECF244321}">
                <p14:modId xmlns:p14="http://schemas.microsoft.com/office/powerpoint/2010/main" val="2349805041"/>
              </p:ext>
            </p:extLst>
          </p:nvPr>
        </p:nvGraphicFramePr>
        <p:xfrm>
          <a:off x="0" y="1069800"/>
          <a:ext cx="9144001" cy="4073701"/>
        </p:xfrm>
        <a:graphic>
          <a:graphicData uri="http://schemas.openxmlformats.org/drawingml/2006/table">
            <a:tbl>
              <a:tblPr/>
              <a:tblGrid>
                <a:gridCol w="3035808">
                  <a:extLst>
                    <a:ext uri="{9D8B030D-6E8A-4147-A177-3AD203B41FA5}">
                      <a16:colId xmlns:a16="http://schemas.microsoft.com/office/drawing/2014/main" val="2828626719"/>
                    </a:ext>
                  </a:extLst>
                </a:gridCol>
                <a:gridCol w="2999234">
                  <a:extLst>
                    <a:ext uri="{9D8B030D-6E8A-4147-A177-3AD203B41FA5}">
                      <a16:colId xmlns:a16="http://schemas.microsoft.com/office/drawing/2014/main" val="2163814410"/>
                    </a:ext>
                  </a:extLst>
                </a:gridCol>
                <a:gridCol w="3108959">
                  <a:extLst>
                    <a:ext uri="{9D8B030D-6E8A-4147-A177-3AD203B41FA5}">
                      <a16:colId xmlns:a16="http://schemas.microsoft.com/office/drawing/2014/main" val="1982883818"/>
                    </a:ext>
                  </a:extLst>
                </a:gridCol>
              </a:tblGrid>
              <a:tr h="131312">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(6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137637">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sessions. The dataset is evidenced in the learning log.</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create an image dataset that aligns with the business objectives and project requirements, ensuring it contains the necessary classes and is sufficiently diverse and complete for training a deep learning model.</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pre-process an image dataset by organizing it with a clear structure, labeling images appropriately, and performing data-cleaning tasks to remove irrelevant or duplicate images. The student also standardizes the dataset to ensure consistency in image format and prepares it for deep learning by splitting the dataset into training, validation, and test sets.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721316">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Based on the records and the links provided, you can see that I have completed the work log, learning log, and the self-assessment rubric.</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Additionally, I actively participated in the Data Lab sessions, demonstrated a positive attitude, and consistently showed respect toward my peers and the learning environment.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am confident that I meet this ILO, as I collected 500 images for each class, ensuring consistency in both format and color (RGB) to avoid bias in the dataset. This careful preparation reflects my understanding of proper data handling and preprocessing.</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am confident that I meet this ILO because, in the preprocessing stage of my code, I completed all the necessary steps—resizing the images, converting them to a consistent format, rescaling, and organizing them into training, validation, and test folders. Additionally, I provided clear explanations for each step to demonstrate my understanding of the process.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1083436">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3" action="ppaction://hlinksldjump"/>
                        </a:rPr>
                        <a:t>Learning Log</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hlinkClick r:id="rId7"/>
                        </a:rPr>
                        <a:t>Dataset</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7"/>
                        </a:rPr>
                        <a:t>Dataset</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266877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8.2</a:t>
            </a:r>
            <a:endParaRPr dirty="0"/>
          </a:p>
        </p:txBody>
      </p:sp>
      <p:sp>
        <p:nvSpPr>
          <p:cNvPr id="364" name="Google Shape;364;p3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Modeling</a:t>
            </a:r>
            <a:endParaRPr dirty="0"/>
          </a:p>
        </p:txBody>
      </p:sp>
      <p:sp>
        <p:nvSpPr>
          <p:cNvPr id="365" name="Google Shape;365;p39"/>
          <p:cNvSpPr txBox="1">
            <a:spLocks noGrp="1"/>
          </p:cNvSpPr>
          <p:nvPr>
            <p:ph type="subTitle" idx="2"/>
          </p:nvPr>
        </p:nvSpPr>
        <p:spPr>
          <a:xfrm>
            <a:off x="3530600" y="3353563"/>
            <a:ext cx="5156200" cy="685800"/>
          </a:xfrm>
          <a:prstGeom prst="rect">
            <a:avLst/>
          </a:prstGeom>
        </p:spPr>
        <p:txBody>
          <a:bodyPr spcFirstLastPara="1" wrap="square" lIns="91425" tIns="91425" rIns="91425" bIns="91425" anchor="ctr" anchorCtr="0">
            <a:noAutofit/>
          </a:bodyPr>
          <a:lstStyle/>
          <a:p>
            <a:pPr marL="0" indent="0"/>
            <a:r>
              <a:rPr lang="en-US" dirty="0"/>
              <a:t>The student can apply modeling techniques including Machine Learning and AI to create value for individuals, organizations and domains.</a:t>
            </a:r>
            <a:endParaRPr lang="en" dirty="0"/>
          </a:p>
        </p:txBody>
      </p:sp>
      <p:sp>
        <p:nvSpPr>
          <p:cNvPr id="366" name="Google Shape;366;p39"/>
          <p:cNvSpPr txBox="1"/>
          <p:nvPr/>
        </p:nvSpPr>
        <p:spPr>
          <a:xfrm>
            <a:off x="-320040" y="1013655"/>
            <a:ext cx="3408680" cy="464038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8</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655861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FF540AF4-3875-480E-4561-176985E3C53C}"/>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42EE5680-76CD-57D3-ACBB-D93BF14899E6}"/>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8</a:t>
            </a:r>
            <a:endParaRPr dirty="0"/>
          </a:p>
        </p:txBody>
      </p:sp>
      <p:sp>
        <p:nvSpPr>
          <p:cNvPr id="394" name="Google Shape;394;p42">
            <a:extLst>
              <a:ext uri="{FF2B5EF4-FFF2-40B4-BE49-F238E27FC236}">
                <a16:creationId xmlns:a16="http://schemas.microsoft.com/office/drawing/2014/main" id="{165F5E72-A711-AD50-05E4-2D30AF18A9E1}"/>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1AE22D69-9223-7B0E-9537-A24731F536B1}"/>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96E5B894-BB8B-3B3F-A473-AF539B44076D}"/>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can apply modeling techniques including Machine Learning and AI to create value for individuals, organizations and domains.</a:t>
            </a:r>
          </a:p>
        </p:txBody>
      </p:sp>
      <p:sp>
        <p:nvSpPr>
          <p:cNvPr id="397" name="Google Shape;397;p42">
            <a:extLst>
              <a:ext uri="{FF2B5EF4-FFF2-40B4-BE49-F238E27FC236}">
                <a16:creationId xmlns:a16="http://schemas.microsoft.com/office/drawing/2014/main" id="{27FFCD4E-F01A-982D-FE99-2848731F5DEE}"/>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8.2</a:t>
            </a:r>
            <a:endParaRPr dirty="0"/>
          </a:p>
        </p:txBody>
      </p:sp>
      <p:sp>
        <p:nvSpPr>
          <p:cNvPr id="398" name="Google Shape;398;p42">
            <a:extLst>
              <a:ext uri="{FF2B5EF4-FFF2-40B4-BE49-F238E27FC236}">
                <a16:creationId xmlns:a16="http://schemas.microsoft.com/office/drawing/2014/main" id="{3D30ED08-609B-8206-D2D1-CEBB95210469}"/>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demonstrates the ability to train and evaluate deep learning models for image classification while exploring the iterative nature of the machine learning project lifecycle to optimize model performance.</a:t>
            </a:r>
          </a:p>
        </p:txBody>
      </p:sp>
      <p:sp>
        <p:nvSpPr>
          <p:cNvPr id="399" name="Google Shape;399;p42">
            <a:extLst>
              <a:ext uri="{FF2B5EF4-FFF2-40B4-BE49-F238E27FC236}">
                <a16:creationId xmlns:a16="http://schemas.microsoft.com/office/drawing/2014/main" id="{08886CF9-68B9-09DE-6296-DF639C5D3DC3}"/>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Modelling</a:t>
            </a:r>
          </a:p>
        </p:txBody>
      </p:sp>
      <p:graphicFrame>
        <p:nvGraphicFramePr>
          <p:cNvPr id="3" name="Table 2">
            <a:extLst>
              <a:ext uri="{FF2B5EF4-FFF2-40B4-BE49-F238E27FC236}">
                <a16:creationId xmlns:a16="http://schemas.microsoft.com/office/drawing/2014/main" id="{BAE5F61C-0275-9890-FA49-8BE912DE4653}"/>
              </a:ext>
            </a:extLst>
          </p:cNvPr>
          <p:cNvGraphicFramePr>
            <a:graphicFrameLocks noGrp="1"/>
          </p:cNvGraphicFramePr>
          <p:nvPr>
            <p:extLst>
              <p:ext uri="{D42A27DB-BD31-4B8C-83A1-F6EECF244321}">
                <p14:modId xmlns:p14="http://schemas.microsoft.com/office/powerpoint/2010/main" val="3675012933"/>
              </p:ext>
            </p:extLst>
          </p:nvPr>
        </p:nvGraphicFramePr>
        <p:xfrm>
          <a:off x="0" y="1069800"/>
          <a:ext cx="9144002" cy="5172777"/>
        </p:xfrm>
        <a:graphic>
          <a:graphicData uri="http://schemas.openxmlformats.org/drawingml/2006/table">
            <a:tbl>
              <a:tblPr/>
              <a:tblGrid>
                <a:gridCol w="1502876">
                  <a:extLst>
                    <a:ext uri="{9D8B030D-6E8A-4147-A177-3AD203B41FA5}">
                      <a16:colId xmlns:a16="http://schemas.microsoft.com/office/drawing/2014/main" val="2828626719"/>
                    </a:ext>
                  </a:extLst>
                </a:gridCol>
                <a:gridCol w="1519724">
                  <a:extLst>
                    <a:ext uri="{9D8B030D-6E8A-4147-A177-3AD203B41FA5}">
                      <a16:colId xmlns:a16="http://schemas.microsoft.com/office/drawing/2014/main" val="2163814410"/>
                    </a:ext>
                  </a:extLst>
                </a:gridCol>
                <a:gridCol w="1534160">
                  <a:extLst>
                    <a:ext uri="{9D8B030D-6E8A-4147-A177-3AD203B41FA5}">
                      <a16:colId xmlns:a16="http://schemas.microsoft.com/office/drawing/2014/main" val="1982883818"/>
                    </a:ext>
                  </a:extLst>
                </a:gridCol>
                <a:gridCol w="1524000">
                  <a:extLst>
                    <a:ext uri="{9D8B030D-6E8A-4147-A177-3AD203B41FA5}">
                      <a16:colId xmlns:a16="http://schemas.microsoft.com/office/drawing/2014/main" val="1684357677"/>
                    </a:ext>
                  </a:extLst>
                </a:gridCol>
                <a:gridCol w="1524153">
                  <a:extLst>
                    <a:ext uri="{9D8B030D-6E8A-4147-A177-3AD203B41FA5}">
                      <a16:colId xmlns:a16="http://schemas.microsoft.com/office/drawing/2014/main" val="487796406"/>
                    </a:ext>
                  </a:extLst>
                </a:gridCol>
                <a:gridCol w="1539089">
                  <a:extLst>
                    <a:ext uri="{9D8B030D-6E8A-4147-A177-3AD203B41FA5}">
                      <a16:colId xmlns:a16="http://schemas.microsoft.com/office/drawing/2014/main" val="3826414634"/>
                    </a:ext>
                  </a:extLst>
                </a:gridCol>
              </a:tblGrid>
              <a:tr h="133327">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(8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D (8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E (6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559436">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sessions. </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establish baselines for an image classification task according to business objectives and project requirements.</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design, train, and evaluate a convolutional neural network for image classification aligned with the project requirements and business objectives.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the ability to work with small image datasets by applying and evaluating data augmentation and transfer learning methods in an image classification task.</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demonstrates an understanding of the iterative nature of the machine learning project lifecycle by performing and documenting multiple iterations to optimize model performance, providing clear and logical justifications for their decisions.</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is able to perform error analysis on their deep learning models by identifying key patterns in misclassifications, diagnosing potential causes, and proposing actionable improvements to enhance model performance.</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871622024"/>
                  </a:ext>
                </a:extLst>
              </a:tr>
              <a:tr h="1369803">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Based on the records and the links provided, you can see that I have completed the work log, learning log, and the self-assessment rubric.</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Additionally, I actively participated in the Data Lab sessions, demonstrated a positive attitude, and consistently showed respect toward my peers and the learning environment.</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successfully calculated the baseline accuracy in my Deep Learning template. Since my dataset included four classes, I determined the baseline accuracy accordingly to establish a reference point for evaluating my model's performance.</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meet this ILO because I trained my model over four iterations, making significant adjustments in each round to improve performance. If you review my model, it clearly reflects the effort I put into experimenting, refining, and testing different approaches to achieve better results</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 Iterations 2 and 3, I applied different techniques to improve my model. In Iteration 2, I implemented data augmentation to enhance the training data. In Iteration 3, since I wasn’t allowed to combine both techniques, I focused solely on transfer learning, selecting VGG16 as my pre-trained model. These decisions demonstrate my understanding of model optimization and experimentation within given constraints.</a:t>
                      </a: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Based on my explanations and the work done across each iteration, it’s evident that I learned from every stage of the process. I made thoughtful decisions to retain certain elements and remove others to improve my model's accuracy. This reflective and iterative approach is why I am confident that I meet the requirements of this ILO.</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Based on the work I completed in the error analysis section of my deep learning project, I was able to identify issues within my dataset and visualize the errors to make them more apparent. This helped me understand the specific problems in each model and iteration, and guided me in making the necessary changes to improve accuracy and overall performance</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2843461618"/>
                  </a:ext>
                </a:extLst>
              </a:tr>
              <a:tr h="1011134">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3" action="ppaction://hlinksldjump"/>
                        </a:rPr>
                        <a:t>Learning Log</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p>
                      <a:pPr algn="l" fontAlgn="t"/>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Deep Learning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7530325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2061335-5EA6-6DF5-E2AC-380FDA356B4D}"/>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4D7C881C-9CC4-DB46-2795-9509ABD6BB35}"/>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US" dirty="0"/>
              <a:t>9.1</a:t>
            </a:r>
            <a:endParaRPr dirty="0"/>
          </a:p>
        </p:txBody>
      </p:sp>
      <p:sp>
        <p:nvSpPr>
          <p:cNvPr id="364" name="Google Shape;364;p39">
            <a:extLst>
              <a:ext uri="{FF2B5EF4-FFF2-40B4-BE49-F238E27FC236}">
                <a16:creationId xmlns:a16="http://schemas.microsoft.com/office/drawing/2014/main" id="{9EEA009F-239D-2C1F-C4A8-719734FFDCEE}"/>
              </a:ext>
            </a:extLst>
          </p:cNvPr>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Design, Prototyping and Implementation</a:t>
            </a:r>
            <a:endParaRPr dirty="0"/>
          </a:p>
        </p:txBody>
      </p:sp>
      <p:sp>
        <p:nvSpPr>
          <p:cNvPr id="365" name="Google Shape;365;p39">
            <a:extLst>
              <a:ext uri="{FF2B5EF4-FFF2-40B4-BE49-F238E27FC236}">
                <a16:creationId xmlns:a16="http://schemas.microsoft.com/office/drawing/2014/main" id="{58487C19-0862-A934-D9D1-CA2C4AA63342}"/>
              </a:ext>
            </a:extLst>
          </p:cNvPr>
          <p:cNvSpPr txBox="1">
            <a:spLocks noGrp="1"/>
          </p:cNvSpPr>
          <p:nvPr>
            <p:ph type="subTitle" idx="2"/>
          </p:nvPr>
        </p:nvSpPr>
        <p:spPr>
          <a:xfrm>
            <a:off x="3144520" y="3353563"/>
            <a:ext cx="5542280" cy="685800"/>
          </a:xfrm>
          <a:prstGeom prst="rect">
            <a:avLst/>
          </a:prstGeom>
        </p:spPr>
        <p:txBody>
          <a:bodyPr spcFirstLastPara="1" wrap="square" lIns="91425" tIns="91425" rIns="91425" bIns="91425" anchor="ctr" anchorCtr="0">
            <a:noAutofit/>
          </a:bodyPr>
          <a:lstStyle/>
          <a:p>
            <a:pPr marL="0" indent="0"/>
            <a:r>
              <a:rPr lang="en-US" dirty="0"/>
              <a:t>The student can develop a prototype using an iterative cycle, explicitly involving stakeholders, and implement applications within an (existing) architecture. </a:t>
            </a:r>
            <a:endParaRPr lang="en" dirty="0"/>
          </a:p>
        </p:txBody>
      </p:sp>
      <p:sp>
        <p:nvSpPr>
          <p:cNvPr id="366" name="Google Shape;366;p39">
            <a:extLst>
              <a:ext uri="{FF2B5EF4-FFF2-40B4-BE49-F238E27FC236}">
                <a16:creationId xmlns:a16="http://schemas.microsoft.com/office/drawing/2014/main" id="{0E2214DF-8DB3-0FE6-C798-5A6A1993409B}"/>
              </a:ext>
            </a:extLst>
          </p:cNvPr>
          <p:cNvSpPr txBox="1"/>
          <p:nvPr/>
        </p:nvSpPr>
        <p:spPr>
          <a:xfrm>
            <a:off x="-320040" y="1013655"/>
            <a:ext cx="3408680" cy="464038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40000" dirty="0">
                <a:solidFill>
                  <a:srgbClr val="999999"/>
                </a:solidFill>
                <a:latin typeface="Roboto"/>
                <a:ea typeface="Roboto"/>
                <a:cs typeface="Roboto"/>
                <a:sym typeface="Roboto"/>
              </a:rPr>
              <a:t>9</a:t>
            </a:r>
            <a:endParaRPr sz="40000" dirty="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2742825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01C3A208-2C4C-0A93-A27F-6FFB261A1AE1}"/>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34EC29EB-9DD6-CB99-8BAC-CDC067484F96}"/>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US" dirty="0"/>
              <a:t>9</a:t>
            </a:r>
            <a:endParaRPr dirty="0"/>
          </a:p>
        </p:txBody>
      </p:sp>
      <p:sp>
        <p:nvSpPr>
          <p:cNvPr id="394" name="Google Shape;394;p42">
            <a:extLst>
              <a:ext uri="{FF2B5EF4-FFF2-40B4-BE49-F238E27FC236}">
                <a16:creationId xmlns:a16="http://schemas.microsoft.com/office/drawing/2014/main" id="{D5965EB8-C956-2DF2-F253-E78D4F86DAC7}"/>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C7F6F354-4B05-7F98-BAC7-425472D4DA6A}"/>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F3F9CCE3-5DB5-3208-93D9-4A48FAE5194C}"/>
              </a:ext>
            </a:extLst>
          </p:cNvPr>
          <p:cNvSpPr txBox="1">
            <a:spLocks noGrp="1"/>
          </p:cNvSpPr>
          <p:nvPr>
            <p:ph type="title" idx="3"/>
          </p:nvPr>
        </p:nvSpPr>
        <p:spPr>
          <a:xfrm>
            <a:off x="2049461" y="0"/>
            <a:ext cx="6111289" cy="576000"/>
          </a:xfrm>
          <a:prstGeom prst="rect">
            <a:avLst/>
          </a:prstGeom>
        </p:spPr>
        <p:txBody>
          <a:bodyPr spcFirstLastPara="1" wrap="square" lIns="91425" tIns="91425" rIns="91425" bIns="91425" anchor="ctr" anchorCtr="0">
            <a:noAutofit/>
          </a:bodyPr>
          <a:lstStyle/>
          <a:p>
            <a:pPr marL="0" indent="0"/>
            <a:r>
              <a:rPr lang="en-US" dirty="0"/>
              <a:t>The student can develop a prototype using an iterative cycle, explicitly involving stakeholders, and implement applications within an (existing) architecture. </a:t>
            </a:r>
          </a:p>
        </p:txBody>
      </p:sp>
      <p:sp>
        <p:nvSpPr>
          <p:cNvPr id="397" name="Google Shape;397;p42">
            <a:extLst>
              <a:ext uri="{FF2B5EF4-FFF2-40B4-BE49-F238E27FC236}">
                <a16:creationId xmlns:a16="http://schemas.microsoft.com/office/drawing/2014/main" id="{FDE59730-9082-B3BC-FCC4-7DEE6655C265}"/>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9.1</a:t>
            </a:r>
            <a:endParaRPr dirty="0"/>
          </a:p>
        </p:txBody>
      </p:sp>
      <p:sp>
        <p:nvSpPr>
          <p:cNvPr id="398" name="Google Shape;398;p42">
            <a:extLst>
              <a:ext uri="{FF2B5EF4-FFF2-40B4-BE49-F238E27FC236}">
                <a16:creationId xmlns:a16="http://schemas.microsoft.com/office/drawing/2014/main" id="{CFA33A7A-2E6E-9480-A1D4-25A0188454C5}"/>
              </a:ext>
            </a:extLst>
          </p:cNvPr>
          <p:cNvSpPr txBox="1">
            <a:spLocks noGrp="1"/>
          </p:cNvSpPr>
          <p:nvPr>
            <p:ph type="title" idx="5"/>
          </p:nvPr>
        </p:nvSpPr>
        <p:spPr>
          <a:xfrm>
            <a:off x="845550" y="576000"/>
            <a:ext cx="765329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US" i="0" dirty="0"/>
              <a:t>The student is able to develop a prototype for an application involving AI. The student can involve the stakeholder in the process using various user research methods.</a:t>
            </a:r>
          </a:p>
        </p:txBody>
      </p:sp>
      <p:sp>
        <p:nvSpPr>
          <p:cNvPr id="399" name="Google Shape;399;p42">
            <a:extLst>
              <a:ext uri="{FF2B5EF4-FFF2-40B4-BE49-F238E27FC236}">
                <a16:creationId xmlns:a16="http://schemas.microsoft.com/office/drawing/2014/main" id="{739E1A97-4E80-A453-22BC-0CBC15A52AD4}"/>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900" dirty="0"/>
              <a:t>Design, Prototyping and Implementation</a:t>
            </a:r>
          </a:p>
        </p:txBody>
      </p:sp>
      <p:graphicFrame>
        <p:nvGraphicFramePr>
          <p:cNvPr id="3" name="Table 2">
            <a:extLst>
              <a:ext uri="{FF2B5EF4-FFF2-40B4-BE49-F238E27FC236}">
                <a16:creationId xmlns:a16="http://schemas.microsoft.com/office/drawing/2014/main" id="{DDD443EF-4AF0-4C20-B4F7-5265B4CB780D}"/>
              </a:ext>
            </a:extLst>
          </p:cNvPr>
          <p:cNvGraphicFramePr>
            <a:graphicFrameLocks noGrp="1"/>
          </p:cNvGraphicFramePr>
          <p:nvPr>
            <p:extLst>
              <p:ext uri="{D42A27DB-BD31-4B8C-83A1-F6EECF244321}">
                <p14:modId xmlns:p14="http://schemas.microsoft.com/office/powerpoint/2010/main" val="316487266"/>
              </p:ext>
            </p:extLst>
          </p:nvPr>
        </p:nvGraphicFramePr>
        <p:xfrm>
          <a:off x="0" y="1069801"/>
          <a:ext cx="9144001" cy="4337974"/>
        </p:xfrm>
        <a:graphic>
          <a:graphicData uri="http://schemas.openxmlformats.org/drawingml/2006/table">
            <a:tbl>
              <a:tblPr/>
              <a:tblGrid>
                <a:gridCol w="1807029">
                  <a:extLst>
                    <a:ext uri="{9D8B030D-6E8A-4147-A177-3AD203B41FA5}">
                      <a16:colId xmlns:a16="http://schemas.microsoft.com/office/drawing/2014/main" val="2828626719"/>
                    </a:ext>
                  </a:extLst>
                </a:gridCol>
                <a:gridCol w="1785259">
                  <a:extLst>
                    <a:ext uri="{9D8B030D-6E8A-4147-A177-3AD203B41FA5}">
                      <a16:colId xmlns:a16="http://schemas.microsoft.com/office/drawing/2014/main" val="2163814410"/>
                    </a:ext>
                  </a:extLst>
                </a:gridCol>
                <a:gridCol w="1850571">
                  <a:extLst>
                    <a:ext uri="{9D8B030D-6E8A-4147-A177-3AD203B41FA5}">
                      <a16:colId xmlns:a16="http://schemas.microsoft.com/office/drawing/2014/main" val="1982883818"/>
                    </a:ext>
                  </a:extLst>
                </a:gridCol>
                <a:gridCol w="1850571">
                  <a:extLst>
                    <a:ext uri="{9D8B030D-6E8A-4147-A177-3AD203B41FA5}">
                      <a16:colId xmlns:a16="http://schemas.microsoft.com/office/drawing/2014/main" val="1684357677"/>
                    </a:ext>
                  </a:extLst>
                </a:gridCol>
                <a:gridCol w="1850571">
                  <a:extLst>
                    <a:ext uri="{9D8B030D-6E8A-4147-A177-3AD203B41FA5}">
                      <a16:colId xmlns:a16="http://schemas.microsoft.com/office/drawing/2014/main" val="487796406"/>
                    </a:ext>
                  </a:extLst>
                </a:gridCol>
              </a:tblGrid>
              <a:tr h="134479">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Pre-requisites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A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algn="ctr" fontAlgn="ct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B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C (4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1" i="0" u="none" strike="noStrike" dirty="0">
                          <a:solidFill>
                            <a:srgbClr val="000000"/>
                          </a:solidFill>
                          <a:effectLst/>
                          <a:highlight>
                            <a:srgbClr val="D0D0D0"/>
                          </a:highlight>
                          <a:latin typeface="Roboto" panose="02000000000000000000" pitchFamily="2" charset="0"/>
                          <a:ea typeface="Roboto" panose="02000000000000000000" pitchFamily="2" charset="0"/>
                          <a:cs typeface="Roboto" panose="02000000000000000000" pitchFamily="2" charset="0"/>
                        </a:rPr>
                        <a:t>D (3 points)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D0D0"/>
                    </a:solidFill>
                  </a:tcPr>
                </a:tc>
                <a:extLst>
                  <a:ext uri="{0D108BD9-81ED-4DB2-BD59-A6C34878D82A}">
                    <a16:rowId xmlns:a16="http://schemas.microsoft.com/office/drawing/2014/main" val="4251399548"/>
                  </a:ext>
                </a:extLst>
              </a:tr>
              <a:tr h="1713218">
                <a:tc>
                  <a:txBody>
                    <a:bodyPr/>
                    <a:lstStyle/>
                    <a:p>
                      <a:pPr algn="l" rtl="0"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behaviour</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during </a:t>
                      </a:r>
                      <a:r>
                        <a:rPr lang="en-US" sz="900" b="1"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DataLab</a:t>
                      </a:r>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sessions.</a:t>
                      </a:r>
                      <a:endParaRPr lang="en-US" sz="900" b="1"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creates a functional prototype suitable for the chosen AI application. The prototype is accessible and testable, demonstrating clear integration of user-experience and human-centered AI design principles.</a:t>
                      </a:r>
                      <a:endParaRPr lang="en-US" sz="900" b="1"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designs a suitable qualitative user study to evaluate the design of their prototype. They collect enough data and effectively analyze the study results using appropriate qualitative analysis methods. The findings of the study are evaluated. The student uses the findings to either validate or improve the application design.</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student designs a suitable quantitative study to evaluate the design of their prototype. They collect enough data and effectively analyze the study results using appropriate quantitative methods. The findings of the study are evaluated. The student uses the findings to either validate or improve the application design.</a:t>
                      </a:r>
                      <a:endParaRPr lang="en-US" sz="900" b="1" i="0" u="none" strike="noStrik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The prototype or application is presented through a clear and concise demonstration.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871622024"/>
                  </a:ext>
                </a:extLst>
              </a:tr>
              <a:tr h="1381645">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 Based on the records and the links provided, you can see that I have completed the work log, learning log, and the self-assessment rubric.</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Additionally, I actively participated in the Data Lab sessions, demonstrated a positive attitude, and consistently showed respect toward my peers and the learning environment.</a:t>
                      </a:r>
                    </a:p>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endParaRPr lang="en-US" sz="9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am confident that I meet this ILO because I developed a functional prototype that was testable and used by my peers. I also gathered feedback from them, which confirmed that the prototype was simple, user-friendly, and easy to navigate.</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meet this ILO because, based on the feedback I received, I made improvements to my wireframe—making it more effective, clearer, and easier to understand. I also conducted an A/B test based on the updated design, and the results were very positive.</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After designing my wireframes, I conducted a survey to gather feedback on both versions. The results helped me determine which design was more effective. The data showed that most students found my wireframe easy to understand and use. Since my target users are average everyday users, I focused on keeping the app simple, intuitive, and user-friendly.</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algn="l" fontAlgn="t"/>
                      <a:r>
                        <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At the end of my presentation and in the final section of the Human-Centered AI task, I included a demo video link to showcase how my app works and highlight its ease of use. Additionally, I provided a persona and task list to help better illustrate the user experience and support a clearer understanding of the design.</a:t>
                      </a:r>
                      <a:endParaRPr lang="en-US" sz="900" b="0" i="0" u="none" strike="noStrik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2843461618"/>
                  </a:ext>
                </a:extLst>
              </a:tr>
              <a:tr h="844357">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3" action="ppaction://hlinksldjump"/>
                        </a:rPr>
                        <a:t>Learning Log</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hlinkClick r:id="rId4"/>
                        </a:rPr>
                        <a:t>Work Log</a:t>
                      </a:r>
                      <a:endParaRPr lang="en-US" sz="900" b="0" i="0" u="none" strike="noStrike" cap="non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sym typeface="Arial"/>
                      </a:endParaRP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hlinkClick r:id="rId5"/>
                        </a:rPr>
                        <a:t>Self-assessment Rubric</a:t>
                      </a:r>
                      <a:endParaRPr lang="en-US" sz="9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F2CD"/>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highlight>
                          <a:srgbClr val="FFE1CC"/>
                        </a:highligh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1CC"/>
                    </a:solidFill>
                  </a:tcPr>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Evidence:</a:t>
                      </a:r>
                    </a:p>
                    <a:p>
                      <a:pPr marL="266700" marR="0" lvl="0" indent="-171450" algn="l" defTabSz="914400" rtl="0" eaLnBrk="1" fontAlgn="t"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hlinkClick r:id="rId6"/>
                        </a:rPr>
                        <a:t>Human-Centered AI Template</a:t>
                      </a:r>
                      <a:endParaRPr lang="en-US" sz="9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C7AC"/>
                    </a:solidFill>
                  </a:tcPr>
                </a:tc>
                <a:extLst>
                  <a:ext uri="{0D108BD9-81ED-4DB2-BD59-A6C34878D82A}">
                    <a16:rowId xmlns:a16="http://schemas.microsoft.com/office/drawing/2014/main" val="3258312297"/>
                  </a:ext>
                </a:extLst>
              </a:tr>
            </a:tbl>
          </a:graphicData>
        </a:graphic>
      </p:graphicFrame>
    </p:spTree>
    <p:extLst>
      <p:ext uri="{BB962C8B-B14F-4D97-AF65-F5344CB8AC3E}">
        <p14:creationId xmlns:p14="http://schemas.microsoft.com/office/powerpoint/2010/main" val="1057175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t>
            </a:r>
            <a:r>
              <a:rPr lang="en-NL" err="1"/>
              <a:t>edal</a:t>
            </a:r>
            <a:r>
              <a:rPr lang="en-NL"/>
              <a:t> Challenges</a:t>
            </a:r>
            <a:endParaRPr/>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lang="en-US" sz="700" i="1" dirty="0">
              <a:solidFill>
                <a:schemeClr val="lt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endParaRPr lang="en-US" sz="700" i="1" dirty="0">
              <a:solidFill>
                <a:schemeClr val="lt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US" sz="700" i="1" dirty="0">
                <a:solidFill>
                  <a:schemeClr val="lt1"/>
                </a:solidFill>
                <a:latin typeface="Helvetica Neue"/>
                <a:ea typeface="Helvetica Neue"/>
                <a:cs typeface="Helvetica Neue"/>
                <a:sym typeface="Helvetica Neue"/>
              </a:rPr>
              <a:t>I want to attend to the Gold Medal. Here is my presentation and my speech pdf.</a:t>
            </a:r>
          </a:p>
          <a:p>
            <a:pPr marL="0" lvl="0" indent="0" algn="l" rtl="0">
              <a:lnSpc>
                <a:spcPct val="115000"/>
              </a:lnSpc>
              <a:spcBef>
                <a:spcPts val="0"/>
              </a:spcBef>
              <a:spcAft>
                <a:spcPts val="0"/>
              </a:spcAft>
              <a:buNone/>
            </a:pPr>
            <a:endParaRPr lang="en-US" sz="700" i="1" dirty="0">
              <a:solidFill>
                <a:schemeClr val="lt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US" sz="700" i="1" dirty="0">
                <a:solidFill>
                  <a:schemeClr val="lt1"/>
                </a:solidFill>
                <a:latin typeface="Helvetica Neue"/>
                <a:ea typeface="Helvetica Neue"/>
                <a:cs typeface="Helvetica Neue"/>
                <a:sym typeface="Helvetica Neue"/>
                <a:hlinkClick r:id="rId3"/>
              </a:rPr>
              <a:t>Presentation</a:t>
            </a:r>
            <a:endParaRPr lang="en-US" sz="700" i="1" dirty="0">
              <a:solidFill>
                <a:schemeClr val="lt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endParaRPr lang="en-US" sz="700" i="1" dirty="0">
              <a:solidFill>
                <a:schemeClr val="lt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US" sz="700" i="1" dirty="0">
                <a:solidFill>
                  <a:schemeClr val="lt1"/>
                </a:solidFill>
                <a:latin typeface="Helvetica Neue"/>
                <a:ea typeface="Helvetica Neue"/>
                <a:cs typeface="Helvetica Neue"/>
                <a:sym typeface="Helvetica Neue"/>
                <a:hlinkClick r:id="rId4"/>
              </a:rPr>
              <a:t>Speech File</a:t>
            </a:r>
            <a:endParaRPr sz="700" i="1" dirty="0">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7" name="Google Shape;507;p53"/>
          <p:cNvSpPr txBox="1">
            <a:spLocks noGrp="1"/>
          </p:cNvSpPr>
          <p:nvPr>
            <p:ph type="body" idx="3"/>
          </p:nvPr>
        </p:nvSpPr>
        <p:spPr>
          <a:xfrm>
            <a:off x="182880" y="712839"/>
            <a:ext cx="8778300" cy="4252209"/>
          </a:xfrm>
          <a:prstGeom prst="rect">
            <a:avLst/>
          </a:prstGeom>
        </p:spPr>
        <p:txBody>
          <a:bodyPr spcFirstLastPara="1" wrap="square" lIns="91425" tIns="91425" rIns="91425" bIns="91425" anchor="t" anchorCtr="0">
            <a:noAutofit/>
          </a:bodyPr>
          <a:lstStyle/>
          <a:p>
            <a:pPr marL="0" indent="0" algn="just">
              <a:spcBef>
                <a:spcPts val="800"/>
              </a:spcBef>
              <a:buNone/>
            </a:pPr>
            <a:r>
              <a:rPr lang="en-US" sz="1400" b="1" dirty="0"/>
              <a:t>My most significant achievements of this block</a:t>
            </a:r>
          </a:p>
          <a:p>
            <a:pPr marL="0" indent="0" algn="just">
              <a:spcBef>
                <a:spcPts val="800"/>
              </a:spcBef>
              <a:buNone/>
            </a:pPr>
            <a:r>
              <a:rPr lang="en-US" dirty="0"/>
              <a:t>Managing four different templates was definitely a challenge for me, but it turned out to be a valuable learning experience. It gave me a clearer vision of what to consider and how to approach things if I were to launch an application or startup in the future. I genuinely enjoyed working on my project, and I hope to bring it into the real world one day. While I would need a more robust dataset for that, I believe the idea has strong potential and could offer significant benefits to the industry.</a:t>
            </a:r>
          </a:p>
          <a:p>
            <a:pPr marL="0" indent="0" algn="just">
              <a:spcBef>
                <a:spcPts val="800"/>
              </a:spcBef>
              <a:buNone/>
            </a:pPr>
            <a:r>
              <a:rPr lang="en" sz="1400" b="1" dirty="0"/>
              <a:t>My most difficult challenges of this block</a:t>
            </a:r>
            <a:endParaRPr sz="1400" b="1" dirty="0"/>
          </a:p>
          <a:p>
            <a:pPr marL="0" lvl="0" indent="0" algn="just" rtl="0">
              <a:spcBef>
                <a:spcPts val="800"/>
              </a:spcBef>
              <a:spcAft>
                <a:spcPts val="0"/>
              </a:spcAft>
              <a:buNone/>
            </a:pPr>
            <a:r>
              <a:rPr lang="en" dirty="0"/>
              <a:t>...</a:t>
            </a:r>
            <a:r>
              <a:rPr lang="en-US" dirty="0"/>
              <a:t> The most significant challenge in this block was conducting market research and completing all four templates.</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The most important lessons I learned</a:t>
            </a:r>
          </a:p>
          <a:p>
            <a:pPr marL="0" lvl="0" indent="0" algn="just" rtl="0">
              <a:spcBef>
                <a:spcPts val="800"/>
              </a:spcBef>
              <a:spcAft>
                <a:spcPts val="0"/>
              </a:spcAft>
              <a:buNone/>
            </a:pPr>
            <a:r>
              <a:rPr lang="en-US" sz="1400" b="1" dirty="0"/>
              <a:t>The most important lesson I learned is that AI is advancing rapidly, and if I don't keep up with it, I'll fall behind—just like with tools such as Figma, which I believe are starting to replace some front-end roles. Staying updated and learning how to work alongside AI is essential for the future.</a:t>
            </a:r>
            <a:endParaRPr sz="1400" b="1" dirty="0"/>
          </a:p>
          <a:p>
            <a:pPr marL="0" lvl="0" indent="0" algn="just" rtl="0">
              <a:spcBef>
                <a:spcPts val="800"/>
              </a:spcBef>
              <a:spcAft>
                <a:spcPts val="800"/>
              </a:spcAft>
              <a:buNone/>
            </a:pPr>
            <a:r>
              <a:rPr lang="en" dirty="0"/>
              <a:t>...</a:t>
            </a:r>
            <a:endParaRPr dirty="0"/>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7" name="Google Shape;517;p54"/>
          <p:cNvSpPr txBox="1">
            <a:spLocks noGrp="1"/>
          </p:cNvSpPr>
          <p:nvPr>
            <p:ph type="body" idx="3"/>
          </p:nvPr>
        </p:nvSpPr>
        <p:spPr>
          <a:xfrm>
            <a:off x="182880" y="698090"/>
            <a:ext cx="5852100" cy="426695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400" b="1" dirty="0"/>
              <a:t>Reflection on my self-assessment</a:t>
            </a:r>
            <a:r>
              <a:rPr lang="en" dirty="0"/>
              <a:t>	</a:t>
            </a:r>
          </a:p>
          <a:p>
            <a:pPr marL="0" indent="0" algn="just">
              <a:spcBef>
                <a:spcPts val="800"/>
              </a:spcBef>
              <a:spcAft>
                <a:spcPts val="800"/>
              </a:spcAft>
              <a:buNone/>
            </a:pPr>
            <a:r>
              <a:rPr lang="en" dirty="0"/>
              <a:t>I think I did well this block I was sick most of the data lab session but I tried my best to not get behind.</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How I plan to improve for the next block</a:t>
            </a:r>
            <a:endParaRPr sz="1400" b="1" dirty="0"/>
          </a:p>
          <a:p>
            <a:pPr marL="0" lvl="0" indent="0" algn="just" rtl="0">
              <a:spcBef>
                <a:spcPts val="800"/>
              </a:spcBef>
              <a:spcAft>
                <a:spcPts val="800"/>
              </a:spcAft>
              <a:buNone/>
            </a:pPr>
            <a:r>
              <a:rPr lang="en-US" dirty="0"/>
              <a:t>Study more and go more in deep to understand better.</a:t>
            </a:r>
            <a:endParaRPr dirty="0"/>
          </a:p>
        </p:txBody>
      </p:sp>
      <p:sp>
        <p:nvSpPr>
          <p:cNvPr id="518" name="Google Shape;518;p54"/>
          <p:cNvSpPr txBox="1"/>
          <p:nvPr/>
        </p:nvSpPr>
        <p:spPr>
          <a:xfrm>
            <a:off x="8019288" y="499317"/>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95</a:t>
            </a:r>
            <a:endParaRPr sz="3600" b="1" dirty="0">
              <a:solidFill>
                <a:srgbClr val="434343"/>
              </a:solidFill>
              <a:latin typeface="Roboto"/>
              <a:ea typeface="Roboto"/>
              <a:cs typeface="Roboto"/>
              <a:sym typeface="Roboto"/>
            </a:endParaRPr>
          </a:p>
        </p:txBody>
      </p:sp>
      <p:sp>
        <p:nvSpPr>
          <p:cNvPr id="3" name="TextBox 2">
            <a:extLst>
              <a:ext uri="{FF2B5EF4-FFF2-40B4-BE49-F238E27FC236}">
                <a16:creationId xmlns:a16="http://schemas.microsoft.com/office/drawing/2014/main" id="{B5D08A45-05C5-1DBA-F018-8AAEC545F050}"/>
              </a:ext>
            </a:extLst>
          </p:cNvPr>
          <p:cNvSpPr txBox="1"/>
          <p:nvPr/>
        </p:nvSpPr>
        <p:spPr>
          <a:xfrm>
            <a:off x="5433552" y="737568"/>
            <a:ext cx="2682977" cy="307777"/>
          </a:xfrm>
          <a:prstGeom prst="rect">
            <a:avLst/>
          </a:prstGeom>
          <a:noFill/>
        </p:spPr>
        <p:txBody>
          <a:bodyPr wrap="square">
            <a:spAutoFit/>
          </a:bodyPr>
          <a:lstStyle/>
          <a:p>
            <a:pPr algn="just">
              <a:lnSpc>
                <a:spcPct val="104000"/>
              </a:lnSpc>
              <a:buClr>
                <a:srgbClr val="FFFFFF"/>
              </a:buClr>
              <a:buSzPts val="1000"/>
            </a:pPr>
            <a:r>
              <a:rPr lang="en" b="1" dirty="0">
                <a:solidFill>
                  <a:srgbClr val="FFFFFF"/>
                </a:solidFill>
                <a:latin typeface="Roboto"/>
                <a:ea typeface="Roboto"/>
                <a:cs typeface="Roboto"/>
                <a:sym typeface="Roboto"/>
              </a:rPr>
              <a:t>My self-assessment grade is a</a:t>
            </a:r>
            <a:endParaRPr lang="en-US" b="1" dirty="0">
              <a:solidFill>
                <a:srgbClr val="FFFFFF"/>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ADAD4AA324BF48804EF76FD903323C" ma:contentTypeVersion="15" ma:contentTypeDescription="Create a new document." ma:contentTypeScope="" ma:versionID="4ea0feda506421460444ca95554a0aab">
  <xsd:schema xmlns:xsd="http://www.w3.org/2001/XMLSchema" xmlns:xs="http://www.w3.org/2001/XMLSchema" xmlns:p="http://schemas.microsoft.com/office/2006/metadata/properties" xmlns:ns2="5ff92c65-ed86-4457-baee-ccd535c9ea21" xmlns:ns3="6c8d291c-a5bf-4049-930d-38db8e991d8e" targetNamespace="http://schemas.microsoft.com/office/2006/metadata/properties" ma:root="true" ma:fieldsID="0fc8cf7d0f5ee312899395875a30595e" ns2:_="" ns3:_="">
    <xsd:import namespace="5ff92c65-ed86-4457-baee-ccd535c9ea21"/>
    <xsd:import namespace="6c8d291c-a5bf-4049-930d-38db8e99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f92c65-ed86-4457-baee-ccd535c9e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8d291c-a5bf-4049-930d-38db8e991d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ad53588-c864-4711-ad43-fad96b40598a}" ma:internalName="TaxCatchAll" ma:showField="CatchAllData" ma:web="6c8d291c-a5bf-4049-930d-38db8e99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6c8d291c-a5bf-4049-930d-38db8e991d8e">
      <UserInfo>
        <DisplayName/>
        <AccountId xsi:nil="true"/>
        <AccountType/>
      </UserInfo>
    </SharedWithUsers>
    <TaxCatchAll xmlns="6c8d291c-a5bf-4049-930d-38db8e991d8e" xsi:nil="true"/>
    <lcf76f155ced4ddcb4097134ff3c332f xmlns="5ff92c65-ed86-4457-baee-ccd535c9ea2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562638-1947-4789-9FBF-F833DB2C18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f92c65-ed86-4457-baee-ccd535c9ea21"/>
    <ds:schemaRef ds:uri="6c8d291c-a5bf-4049-930d-38db8e991d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67B86F-F5BB-4BE6-9A37-0E19E53CB68B}">
  <ds:schemaRefs>
    <ds:schemaRef ds:uri="http://schemas.openxmlformats.org/package/2006/metadata/core-properties"/>
    <ds:schemaRef ds:uri="http://schemas.microsoft.com/office/2006/documentManagement/types"/>
    <ds:schemaRef ds:uri="5ff92c65-ed86-4457-baee-ccd535c9ea21"/>
    <ds:schemaRef ds:uri="http://purl.org/dc/dcmitype/"/>
    <ds:schemaRef ds:uri="6c8d291c-a5bf-4049-930d-38db8e991d8e"/>
    <ds:schemaRef ds:uri="http://schemas.microsoft.com/office/2006/metadata/properties"/>
    <ds:schemaRef ds:uri="http://purl.org/dc/elements/1.1/"/>
    <ds:schemaRef ds:uri="http://schemas.microsoft.com/office/infopath/2007/PartnerControls"/>
    <ds:schemaRef ds:uri="http://www.w3.org/XML/1998/namespace"/>
    <ds:schemaRef ds:uri="http://purl.org/dc/terms/"/>
  </ds:schemaRefs>
</ds:datastoreItem>
</file>

<file path=customXml/itemProps3.xml><?xml version="1.0" encoding="utf-8"?>
<ds:datastoreItem xmlns:ds="http://schemas.openxmlformats.org/officeDocument/2006/customXml" ds:itemID="{98D9791E-52D0-4ABB-925A-4EAECF798D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6058</TotalTime>
  <Words>10885</Words>
  <Application>Microsoft Office PowerPoint</Application>
  <PresentationFormat>On-screen Show (16:9)</PresentationFormat>
  <Paragraphs>656</Paragraphs>
  <Slides>45</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Roboto Thin</vt:lpstr>
      <vt:lpstr>Roboto</vt:lpstr>
      <vt:lpstr>Open Sans</vt:lpstr>
      <vt:lpstr>Helvetica Neue</vt:lpstr>
      <vt:lpstr>Roboto Light</vt:lpstr>
      <vt:lpstr>Proxima Nova</vt:lpstr>
      <vt:lpstr>BUAS Gameday</vt:lpstr>
      <vt:lpstr>« Mohammadali Jaberi » «244437» «creative brief/project name»</vt:lpstr>
      <vt:lpstr>How To Use This Template</vt:lpstr>
      <vt:lpstr>Learning Log Structure</vt:lpstr>
      <vt:lpstr>Section A</vt:lpstr>
      <vt:lpstr>Where am I starting?</vt:lpstr>
      <vt:lpstr>What are my goals?</vt:lpstr>
      <vt:lpstr>PowerPoint Presentation</vt:lpstr>
      <vt:lpstr>First week  For the first week I real the chapter one completely to review it.  Second week I started the second chapter but because it was a lots of data I read ½ of second Chapter.  Third week I was able to finish chapter 2 and also reread the first part of chapter 2.  Fourth week I started chapter 3 which it was about classification and it was quite hard to understand it.  Fifth week  I was sick the whole week so I couldn’t study at all.  Sixth week  I started reading chapter four which it was about training models and decision tree part which I really like this part.  Seventh Week I started reading chapter 6 which it was about the continue of decision tree and Random forest.</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Week 8 - Log</vt:lpstr>
      <vt:lpstr>Week 8 - Feedback</vt:lpstr>
      <vt:lpstr>Section C</vt:lpstr>
      <vt:lpstr>ILO 1.3</vt:lpstr>
      <vt:lpstr>ILO 1</vt:lpstr>
      <vt:lpstr>ILO 2.3</vt:lpstr>
      <vt:lpstr>ILO 2</vt:lpstr>
      <vt:lpstr>ILO 3.2</vt:lpstr>
      <vt:lpstr>ILO 3</vt:lpstr>
      <vt:lpstr>ILO 4.1</vt:lpstr>
      <vt:lpstr>ILO 4</vt:lpstr>
      <vt:lpstr>ILO 6.2</vt:lpstr>
      <vt:lpstr>ILO 6</vt:lpstr>
      <vt:lpstr>ILO 8.2</vt:lpstr>
      <vt:lpstr>ILO 8</vt:lpstr>
      <vt:lpstr>ILO 9.1</vt:lpstr>
      <vt:lpstr>ILO 9</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Neggers, Margot</dc:creator>
  <cp:lastModifiedBy>m.jaberi14979@gmail.com</cp:lastModifiedBy>
  <cp:revision>40</cp:revision>
  <dcterms:modified xsi:type="dcterms:W3CDTF">2025-04-11T12:03:34Z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0x0101000BADAD4AA324BF48804EF76FD903323C</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